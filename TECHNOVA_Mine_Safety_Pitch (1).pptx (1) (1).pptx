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ptos" panose="020B0004020202020204" pitchFamily="34" charset="0"/>
      <p:regular r:id="rId13"/>
      <p:bold r:id="rId14"/>
      <p:italic r:id="rId15"/>
      <p:boldItalic r:id="rId16"/>
    </p:embeddedFont>
    <p:embeddedFont>
      <p:font typeface="Aptos Bold" panose="020B0004020202020204" charset="0"/>
      <p:regular r:id="rId17"/>
      <p:bold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Cinzel Bold" panose="020B0604020202020204" charset="0"/>
      <p:regular r:id="rId23"/>
    </p:embeddedFont>
    <p:embeddedFont>
      <p:font typeface="Nunito Sans" pitchFamily="2" charset="0"/>
      <p:regular r:id="rId24"/>
    </p:embeddedFont>
    <p:embeddedFont>
      <p:font typeface="Nunito Sans Bold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87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11.10.2026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Template tip: replace every [bracket] with your own content. Keep the deck to 10 slides and your pitch to about 5 minutes.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Spend about 40 seconds here. Make the judges feel the problem before you show the fix.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One sentence first, then three features at most. Keep the language simple enough for a non-technical judge.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Replace the three steps with your real flow, or swap them for an architecture diagram.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Drop in real screenshots or a demo video link. Show the main journey, not every feature.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Be honest about what you built during the event and what you reused.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Use one real, verifiable figure from a pilot, survey or research. If you have none, describe the change in plain words instead.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Keep it realistic. Two clear goals per stage beat a long wish list.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Delete a card if your team has fewer than four members.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End with your links and be ready for questions. Thank the organizers and the judges.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0500"/>
            <a:chOff x="0" y="0"/>
            <a:chExt cx="24384000" cy="25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54000"/>
            </a:xfrm>
            <a:custGeom>
              <a:avLst/>
              <a:gdLst/>
              <a:ahLst/>
              <a:cxnLst/>
              <a:rect l="l" t="t" r="r" b="b"/>
              <a:pathLst>
                <a:path w="24384000" h="254000">
                  <a:moveTo>
                    <a:pt x="0" y="0"/>
                  </a:moveTo>
                  <a:lnTo>
                    <a:pt x="24384000" y="0"/>
                  </a:lnTo>
                  <a:lnTo>
                    <a:pt x="24384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C8102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190500"/>
            <a:ext cx="18288000" cy="57150"/>
            <a:chOff x="0" y="0"/>
            <a:chExt cx="24384000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76200"/>
            </a:xfrm>
            <a:custGeom>
              <a:avLst/>
              <a:gdLst/>
              <a:ahLst/>
              <a:cxnLst/>
              <a:rect l="l" t="t" r="r" b="b"/>
              <a:pathLst>
                <a:path w="24384000" h="762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3B23C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9982200"/>
            <a:ext cx="18288000" cy="57150"/>
            <a:chOff x="0" y="0"/>
            <a:chExt cx="24384000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76200"/>
            </a:xfrm>
            <a:custGeom>
              <a:avLst/>
              <a:gdLst/>
              <a:ahLst/>
              <a:cxnLst/>
              <a:rect l="l" t="t" r="r" b="b"/>
              <a:pathLst>
                <a:path w="24384000" h="762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3B23C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10039350"/>
            <a:ext cx="18288000" cy="247650"/>
            <a:chOff x="0" y="0"/>
            <a:chExt cx="24384000" cy="330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330200"/>
            </a:xfrm>
            <a:custGeom>
              <a:avLst/>
              <a:gdLst/>
              <a:ahLst/>
              <a:cxnLst/>
              <a:rect l="l" t="t" r="r" b="b"/>
              <a:pathLst>
                <a:path w="24384000" h="330200">
                  <a:moveTo>
                    <a:pt x="0" y="0"/>
                  </a:moveTo>
                  <a:lnTo>
                    <a:pt x="24384000" y="0"/>
                  </a:lnTo>
                  <a:lnTo>
                    <a:pt x="243840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C8102E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1239500" y="2476500"/>
            <a:ext cx="5334000" cy="5334000"/>
            <a:chOff x="0" y="0"/>
            <a:chExt cx="7112000" cy="7112000"/>
          </a:xfrm>
        </p:grpSpPr>
        <p:sp>
          <p:nvSpPr>
            <p:cNvPr id="11" name="Freeform 11" descr="Decorative golden mandala with red petals"/>
            <p:cNvSpPr/>
            <p:nvPr/>
          </p:nvSpPr>
          <p:spPr>
            <a:xfrm>
              <a:off x="0" y="0"/>
              <a:ext cx="7112000" cy="7112000"/>
            </a:xfrm>
            <a:custGeom>
              <a:avLst/>
              <a:gdLst/>
              <a:ahLst/>
              <a:cxnLst/>
              <a:rect l="l" t="t" r="r" b="b"/>
              <a:pathLst>
                <a:path w="7112000" h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7112000"/>
                  </a:lnTo>
                  <a:lnTo>
                    <a:pt x="0" y="711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401147" y="641975"/>
            <a:ext cx="10203180" cy="449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 spc="450">
                <a:solidFill>
                  <a:srgbClr val="E3B23C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TECHNOVA 2026 · PARTICIPANT PITCH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60547" y="1269654"/>
            <a:ext cx="10203180" cy="2562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99"/>
              </a:lnSpc>
            </a:pPr>
            <a:r>
              <a:rPr lang="en-US" sz="8100" b="1" spc="299">
                <a:solidFill>
                  <a:srgbClr val="E3B23C"/>
                </a:solidFill>
                <a:latin typeface="Cinzel Bold"/>
                <a:ea typeface="Cinzel Bold"/>
                <a:cs typeface="Cinzel Bold"/>
                <a:sym typeface="Cinzel Bold"/>
              </a:rPr>
              <a:t>AI-Powered Underground Mine Safety &amp; Rescue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74413" y="6362671"/>
            <a:ext cx="10203180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300">
                <a:solidFill>
                  <a:srgbClr val="E3B23C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TEAM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05367" y="6731318"/>
            <a:ext cx="10203180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1">
                <a:solidFill>
                  <a:srgbClr val="FBF3E6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Suraksha Kavach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4413" y="7429500"/>
            <a:ext cx="11877811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F3DDC0"/>
                </a:solidFill>
                <a:latin typeface="Nunito Sans"/>
                <a:ea typeface="Nunito Sans"/>
                <a:cs typeface="Nunito Sans"/>
                <a:sym typeface="Nunito Sans"/>
              </a:rPr>
              <a:t>Disaster Management · Maulana Abul Kalam Azad University of Technology,WB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19200" y="8096250"/>
            <a:ext cx="10203180" cy="4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C9A98E"/>
                </a:solidFill>
                <a:latin typeface="Nunito Sans"/>
                <a:ea typeface="Nunito Sans"/>
                <a:cs typeface="Nunito Sans"/>
                <a:sym typeface="Nunito Sans"/>
              </a:rPr>
              <a:t>Organized by GSA MAKAUT × WebCraftzs Technologies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0500"/>
            <a:chOff x="0" y="0"/>
            <a:chExt cx="24384000" cy="25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54000"/>
            </a:xfrm>
            <a:custGeom>
              <a:avLst/>
              <a:gdLst/>
              <a:ahLst/>
              <a:cxnLst/>
              <a:rect l="l" t="t" r="r" b="b"/>
              <a:pathLst>
                <a:path w="24384000" h="254000">
                  <a:moveTo>
                    <a:pt x="0" y="0"/>
                  </a:moveTo>
                  <a:lnTo>
                    <a:pt x="24384000" y="0"/>
                  </a:lnTo>
                  <a:lnTo>
                    <a:pt x="24384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C8102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190500"/>
            <a:ext cx="18288000" cy="57150"/>
            <a:chOff x="0" y="0"/>
            <a:chExt cx="24384000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76200"/>
            </a:xfrm>
            <a:custGeom>
              <a:avLst/>
              <a:gdLst/>
              <a:ahLst/>
              <a:cxnLst/>
              <a:rect l="l" t="t" r="r" b="b"/>
              <a:pathLst>
                <a:path w="24384000" h="762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3B23C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9982200"/>
            <a:ext cx="18288000" cy="57150"/>
            <a:chOff x="0" y="0"/>
            <a:chExt cx="24384000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76200"/>
            </a:xfrm>
            <a:custGeom>
              <a:avLst/>
              <a:gdLst/>
              <a:ahLst/>
              <a:cxnLst/>
              <a:rect l="l" t="t" r="r" b="b"/>
              <a:pathLst>
                <a:path w="24384000" h="762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3B23C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10039350"/>
            <a:ext cx="18288000" cy="247650"/>
            <a:chOff x="0" y="0"/>
            <a:chExt cx="24384000" cy="330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330200"/>
            </a:xfrm>
            <a:custGeom>
              <a:avLst/>
              <a:gdLst/>
              <a:ahLst/>
              <a:cxnLst/>
              <a:rect l="l" t="t" r="r" b="b"/>
              <a:pathLst>
                <a:path w="24384000" h="330200">
                  <a:moveTo>
                    <a:pt x="0" y="0"/>
                  </a:moveTo>
                  <a:lnTo>
                    <a:pt x="24384000" y="0"/>
                  </a:lnTo>
                  <a:lnTo>
                    <a:pt x="243840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C8102E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028700" y="4434611"/>
            <a:ext cx="5079921" cy="3329940"/>
            <a:chOff x="0" y="0"/>
            <a:chExt cx="6773228" cy="44399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773290" cy="4439920"/>
            </a:xfrm>
            <a:custGeom>
              <a:avLst/>
              <a:gdLst/>
              <a:ahLst/>
              <a:cxnLst/>
              <a:rect l="l" t="t" r="r" b="b"/>
              <a:pathLst>
                <a:path w="6773290" h="4439920">
                  <a:moveTo>
                    <a:pt x="0" y="242697"/>
                  </a:moveTo>
                  <a:cubicBezTo>
                    <a:pt x="0" y="108712"/>
                    <a:pt x="108712" y="0"/>
                    <a:pt x="242697" y="0"/>
                  </a:cubicBezTo>
                  <a:lnTo>
                    <a:pt x="6530594" y="0"/>
                  </a:lnTo>
                  <a:cubicBezTo>
                    <a:pt x="6664578" y="0"/>
                    <a:pt x="6773290" y="108712"/>
                    <a:pt x="6773290" y="242697"/>
                  </a:cubicBezTo>
                  <a:lnTo>
                    <a:pt x="6773290" y="4197223"/>
                  </a:lnTo>
                  <a:cubicBezTo>
                    <a:pt x="6773290" y="4331208"/>
                    <a:pt x="6664578" y="4439920"/>
                    <a:pt x="6530594" y="4439920"/>
                  </a:cubicBezTo>
                  <a:lnTo>
                    <a:pt x="242697" y="4439920"/>
                  </a:lnTo>
                  <a:cubicBezTo>
                    <a:pt x="108712" y="4439920"/>
                    <a:pt x="0" y="4331208"/>
                    <a:pt x="0" y="4197223"/>
                  </a:cubicBezTo>
                  <a:close/>
                </a:path>
              </a:pathLst>
            </a:custGeom>
            <a:solidFill>
              <a:srgbClr val="FFFBF3"/>
            </a:solidFill>
            <a:ln w="19050" cap="sq">
              <a:solidFill>
                <a:srgbClr val="E3B23C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101585" y="4362450"/>
            <a:ext cx="609600" cy="609600"/>
            <a:chOff x="0" y="0"/>
            <a:chExt cx="812800" cy="812800"/>
          </a:xfrm>
        </p:grpSpPr>
        <p:sp>
          <p:nvSpPr>
            <p:cNvPr id="13" name="Freeform 13" descr="Users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6713496" y="4461510"/>
            <a:ext cx="5100952" cy="3173730"/>
            <a:chOff x="0" y="0"/>
            <a:chExt cx="6801269" cy="42316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801307" cy="4231640"/>
            </a:xfrm>
            <a:custGeom>
              <a:avLst/>
              <a:gdLst/>
              <a:ahLst/>
              <a:cxnLst/>
              <a:rect l="l" t="t" r="r" b="b"/>
              <a:pathLst>
                <a:path w="6801307" h="4231640">
                  <a:moveTo>
                    <a:pt x="0" y="231312"/>
                  </a:moveTo>
                  <a:cubicBezTo>
                    <a:pt x="0" y="103612"/>
                    <a:pt x="109160" y="0"/>
                    <a:pt x="243696" y="0"/>
                  </a:cubicBezTo>
                  <a:lnTo>
                    <a:pt x="6557611" y="0"/>
                  </a:lnTo>
                  <a:cubicBezTo>
                    <a:pt x="6692147" y="0"/>
                    <a:pt x="6801307" y="103612"/>
                    <a:pt x="6801307" y="231312"/>
                  </a:cubicBezTo>
                  <a:lnTo>
                    <a:pt x="6801307" y="4000328"/>
                  </a:lnTo>
                  <a:cubicBezTo>
                    <a:pt x="6801307" y="4128027"/>
                    <a:pt x="6692147" y="4231640"/>
                    <a:pt x="6557611" y="4231640"/>
                  </a:cubicBezTo>
                  <a:lnTo>
                    <a:pt x="243696" y="4231640"/>
                  </a:lnTo>
                  <a:cubicBezTo>
                    <a:pt x="109160" y="4231640"/>
                    <a:pt x="0" y="4128028"/>
                    <a:pt x="0" y="4000328"/>
                  </a:cubicBezTo>
                  <a:close/>
                </a:path>
              </a:pathLst>
            </a:custGeom>
            <a:solidFill>
              <a:srgbClr val="FFFBF3"/>
            </a:solidFill>
            <a:ln w="19050" cap="sq">
              <a:solidFill>
                <a:srgbClr val="E3B23C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954898" y="4362450"/>
            <a:ext cx="609600" cy="609600"/>
            <a:chOff x="0" y="0"/>
            <a:chExt cx="812800" cy="812800"/>
          </a:xfrm>
        </p:grpSpPr>
        <p:sp>
          <p:nvSpPr>
            <p:cNvPr id="17" name="Freeform 17" descr="Chart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2343705" y="4434611"/>
            <a:ext cx="5080035" cy="3219679"/>
            <a:chOff x="0" y="0"/>
            <a:chExt cx="6773380" cy="429290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773418" cy="4292905"/>
            </a:xfrm>
            <a:custGeom>
              <a:avLst/>
              <a:gdLst/>
              <a:ahLst/>
              <a:cxnLst/>
              <a:rect l="l" t="t" r="r" b="b"/>
              <a:pathLst>
                <a:path w="6773418" h="4292905">
                  <a:moveTo>
                    <a:pt x="0" y="234661"/>
                  </a:moveTo>
                  <a:cubicBezTo>
                    <a:pt x="0" y="105112"/>
                    <a:pt x="108712" y="0"/>
                    <a:pt x="242697" y="0"/>
                  </a:cubicBezTo>
                  <a:lnTo>
                    <a:pt x="6530721" y="0"/>
                  </a:lnTo>
                  <a:cubicBezTo>
                    <a:pt x="6664706" y="0"/>
                    <a:pt x="6773418" y="105112"/>
                    <a:pt x="6773418" y="234661"/>
                  </a:cubicBezTo>
                  <a:lnTo>
                    <a:pt x="6773418" y="4058244"/>
                  </a:lnTo>
                  <a:cubicBezTo>
                    <a:pt x="6773418" y="4187792"/>
                    <a:pt x="6664706" y="4292905"/>
                    <a:pt x="6530721" y="4292905"/>
                  </a:cubicBezTo>
                  <a:lnTo>
                    <a:pt x="242697" y="4292905"/>
                  </a:lnTo>
                  <a:cubicBezTo>
                    <a:pt x="108712" y="4292905"/>
                    <a:pt x="0" y="4187792"/>
                    <a:pt x="0" y="4058244"/>
                  </a:cubicBezTo>
                  <a:close/>
                </a:path>
              </a:pathLst>
            </a:custGeom>
            <a:solidFill>
              <a:srgbClr val="FFFBF3"/>
            </a:solidFill>
            <a:ln w="19050" cap="sq">
              <a:solidFill>
                <a:srgbClr val="E3B23C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2420200" y="4381500"/>
            <a:ext cx="609600" cy="609600"/>
            <a:chOff x="0" y="0"/>
            <a:chExt cx="812800" cy="812800"/>
          </a:xfrm>
        </p:grpSpPr>
        <p:sp>
          <p:nvSpPr>
            <p:cNvPr id="21" name="Freeform 21" descr="Warning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22" name="Freeform 22"/>
          <p:cNvSpPr/>
          <p:nvPr/>
        </p:nvSpPr>
        <p:spPr>
          <a:xfrm>
            <a:off x="381597" y="7878851"/>
            <a:ext cx="17764750" cy="894331"/>
          </a:xfrm>
          <a:custGeom>
            <a:avLst/>
            <a:gdLst/>
            <a:ahLst/>
            <a:cxnLst/>
            <a:rect l="l" t="t" r="r" b="b"/>
            <a:pathLst>
              <a:path w="17764750" h="894331">
                <a:moveTo>
                  <a:pt x="0" y="0"/>
                </a:moveTo>
                <a:lnTo>
                  <a:pt x="17764750" y="0"/>
                </a:lnTo>
                <a:lnTo>
                  <a:pt x="17764750" y="894331"/>
                </a:lnTo>
                <a:lnTo>
                  <a:pt x="0" y="894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640" t="-52" r="-979" b="-10785"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31581" y="190500"/>
            <a:ext cx="19395847" cy="9791700"/>
          </a:xfrm>
          <a:custGeom>
            <a:avLst/>
            <a:gdLst/>
            <a:ahLst/>
            <a:cxnLst/>
            <a:rect l="l" t="t" r="r" b="b"/>
            <a:pathLst>
              <a:path w="19395847" h="9791700">
                <a:moveTo>
                  <a:pt x="0" y="0"/>
                </a:moveTo>
                <a:lnTo>
                  <a:pt x="19395847" y="0"/>
                </a:lnTo>
                <a:lnTo>
                  <a:pt x="19395847" y="9791700"/>
                </a:lnTo>
                <a:lnTo>
                  <a:pt x="0" y="97917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6999"/>
            </a:blip>
            <a:stretch>
              <a:fillRect t="-4061" b="-4061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219200" y="1171575"/>
            <a:ext cx="16325088" cy="4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 spc="375">
                <a:solidFill>
                  <a:srgbClr val="C8102E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01 · THE PROBLEM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19200" y="1680210"/>
            <a:ext cx="16325088" cy="777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4320" b="1">
                <a:solidFill>
                  <a:srgbClr val="3B0A0E"/>
                </a:solidFill>
                <a:latin typeface="Cinzel Bold"/>
                <a:ea typeface="Cinzel Bold"/>
                <a:cs typeface="Cinzel Bold"/>
                <a:sym typeface="Cinzel Bold"/>
              </a:rPr>
              <a:t>When a mine emergency cuts off cellular connectivity, a fallen or trapped worker may go unnoticed and rescuers may not know the underground conditions.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002155" y="4541520"/>
            <a:ext cx="4416066" cy="449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3B0A0E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Who is affected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86814" y="5431155"/>
            <a:ext cx="4416066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b="1">
                <a:solidFill>
                  <a:srgbClr val="5A2A2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Underground miners and rescue teams working in areas affected by falls, gas hazards or landslides.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746006" y="4577715"/>
            <a:ext cx="4416190" cy="449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3B0A0E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How big it is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239057" y="5391150"/>
            <a:ext cx="4416190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b="1">
                <a:solidFill>
                  <a:srgbClr val="5A2A2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Example scenario: a worker falls or a landslide blocks access while cellular coverage is unavailable</a:t>
            </a:r>
            <a:r>
              <a:rPr lang="en-US" sz="2100">
                <a:solidFill>
                  <a:srgbClr val="5A2A2A"/>
                </a:solidFill>
                <a:latin typeface="Nunito Sans"/>
                <a:ea typeface="Nunito Sans"/>
                <a:cs typeface="Nunito Sans"/>
                <a:sym typeface="Nunito Sans"/>
              </a:rPr>
              <a:t>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029800" y="4434611"/>
            <a:ext cx="4416190" cy="861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3B0A0E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Why today's options fall short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746155" y="5307140"/>
            <a:ext cx="4416190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b="1">
                <a:solidFill>
                  <a:srgbClr val="5A2A2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Cellular-dependent alerts may fail underground; responders may lack immediate information about the worker’s condition and the mine environment.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19200" y="9328785"/>
            <a:ext cx="13735050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A5A4A"/>
                </a:solidFill>
                <a:latin typeface="Nunito Sans"/>
                <a:ea typeface="Nunito Sans"/>
                <a:cs typeface="Nunito Sans"/>
                <a:sym typeface="Nunito Sans"/>
              </a:rPr>
              <a:t>TECHNOVA 2026 · Team Name TBD · GSA MAKAUT × WebCraftzs Technologies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087600" y="9328785"/>
            <a:ext cx="1981200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8A5A4A"/>
                </a:solidFill>
                <a:latin typeface="Nunito Sans"/>
                <a:ea typeface="Nunito Sans"/>
                <a:cs typeface="Nunito Sans"/>
                <a:sym typeface="Nunito 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0500"/>
            <a:chOff x="0" y="0"/>
            <a:chExt cx="24384000" cy="25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54000"/>
            </a:xfrm>
            <a:custGeom>
              <a:avLst/>
              <a:gdLst/>
              <a:ahLst/>
              <a:cxnLst/>
              <a:rect l="l" t="t" r="r" b="b"/>
              <a:pathLst>
                <a:path w="24384000" h="254000">
                  <a:moveTo>
                    <a:pt x="0" y="0"/>
                  </a:moveTo>
                  <a:lnTo>
                    <a:pt x="24384000" y="0"/>
                  </a:lnTo>
                  <a:lnTo>
                    <a:pt x="24384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C8102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190500"/>
            <a:ext cx="18288000" cy="57150"/>
            <a:chOff x="0" y="0"/>
            <a:chExt cx="24384000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76200"/>
            </a:xfrm>
            <a:custGeom>
              <a:avLst/>
              <a:gdLst/>
              <a:ahLst/>
              <a:cxnLst/>
              <a:rect l="l" t="t" r="r" b="b"/>
              <a:pathLst>
                <a:path w="24384000" h="762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3B23C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9982200"/>
            <a:ext cx="18288000" cy="57150"/>
            <a:chOff x="0" y="0"/>
            <a:chExt cx="24384000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76200"/>
            </a:xfrm>
            <a:custGeom>
              <a:avLst/>
              <a:gdLst/>
              <a:ahLst/>
              <a:cxnLst/>
              <a:rect l="l" t="t" r="r" b="b"/>
              <a:pathLst>
                <a:path w="24384000" h="762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3B23C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10039350"/>
            <a:ext cx="18288000" cy="247650"/>
            <a:chOff x="0" y="0"/>
            <a:chExt cx="24384000" cy="330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330200"/>
            </a:xfrm>
            <a:custGeom>
              <a:avLst/>
              <a:gdLst/>
              <a:ahLst/>
              <a:cxnLst/>
              <a:rect l="l" t="t" r="r" b="b"/>
              <a:pathLst>
                <a:path w="24384000" h="330200">
                  <a:moveTo>
                    <a:pt x="0" y="0"/>
                  </a:moveTo>
                  <a:lnTo>
                    <a:pt x="24384000" y="0"/>
                  </a:lnTo>
                  <a:lnTo>
                    <a:pt x="243840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C8102E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219200" y="1171575"/>
            <a:ext cx="16325088" cy="4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 spc="375">
                <a:solidFill>
                  <a:srgbClr val="E3B23C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02 · THE SOLUTION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0" y="1680210"/>
            <a:ext cx="16325088" cy="777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4320" b="1">
                <a:solidFill>
                  <a:srgbClr val="FBF3E6"/>
                </a:solidFill>
                <a:latin typeface="Cinzel Bold"/>
                <a:ea typeface="Cinzel Bold"/>
                <a:cs typeface="Cinzel Bold"/>
                <a:sym typeface="Cinzel Bold"/>
              </a:rPr>
              <a:t>A smart helmet sends emergency alerts over an RFM02-based LoRa mesh to a control-room dashboard, prompting a robot to assess the mine.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40279" y="4107180"/>
            <a:ext cx="7772400" cy="2940523"/>
            <a:chOff x="0" y="0"/>
            <a:chExt cx="10363200" cy="392069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363200" cy="3920698"/>
            </a:xfrm>
            <a:custGeom>
              <a:avLst/>
              <a:gdLst/>
              <a:ahLst/>
              <a:cxnLst/>
              <a:rect l="l" t="t" r="r" b="b"/>
              <a:pathLst>
                <a:path w="10363200" h="3920698">
                  <a:moveTo>
                    <a:pt x="0" y="262624"/>
                  </a:moveTo>
                  <a:cubicBezTo>
                    <a:pt x="0" y="117581"/>
                    <a:pt x="112014" y="0"/>
                    <a:pt x="250190" y="0"/>
                  </a:cubicBezTo>
                  <a:lnTo>
                    <a:pt x="10113010" y="0"/>
                  </a:lnTo>
                  <a:cubicBezTo>
                    <a:pt x="10251186" y="0"/>
                    <a:pt x="10363200" y="117581"/>
                    <a:pt x="10363200" y="262624"/>
                  </a:cubicBezTo>
                  <a:lnTo>
                    <a:pt x="10363200" y="3658073"/>
                  </a:lnTo>
                  <a:cubicBezTo>
                    <a:pt x="10363200" y="3803116"/>
                    <a:pt x="10251186" y="3920698"/>
                    <a:pt x="10113010" y="3920698"/>
                  </a:cubicBezTo>
                  <a:lnTo>
                    <a:pt x="250190" y="3920698"/>
                  </a:lnTo>
                  <a:cubicBezTo>
                    <a:pt x="112014" y="3920698"/>
                    <a:pt x="0" y="3803116"/>
                    <a:pt x="0" y="3658073"/>
                  </a:cubicBezTo>
                  <a:close/>
                </a:path>
              </a:pathLst>
            </a:custGeom>
            <a:solidFill>
              <a:srgbClr val="521018"/>
            </a:solidFill>
            <a:ln w="19050" cap="sq">
              <a:solidFill>
                <a:srgbClr val="E3B23C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3322939" y="4265000"/>
            <a:ext cx="7189318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E3B23C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What it does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19200" y="4574838"/>
            <a:ext cx="7081876" cy="2331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8609" lvl="1" indent="-149304" algn="l">
              <a:lnSpc>
                <a:spcPts val="3359"/>
              </a:lnSpc>
              <a:buFont typeface="Arial"/>
              <a:buChar char="•"/>
            </a:pPr>
            <a:r>
              <a:rPr lang="en-US" sz="1650">
                <a:solidFill>
                  <a:srgbClr val="F3DDC0"/>
                </a:solidFill>
                <a:latin typeface="Nunito Sans"/>
                <a:ea typeface="Nunito Sans"/>
                <a:cs typeface="Nunito Sans"/>
                <a:sym typeface="Nunito Sans"/>
              </a:rPr>
              <a:t>Helmet-based fall/impact detection using MPU6050</a:t>
            </a:r>
          </a:p>
          <a:p>
            <a:pPr marL="434340" lvl="1" indent="-217170" algn="l">
              <a:lnSpc>
                <a:spcPts val="3359"/>
              </a:lnSpc>
            </a:pPr>
            <a:endParaRPr lang="en-US" sz="1650">
              <a:solidFill>
                <a:srgbClr val="F3DDC0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marL="434340" lvl="1" indent="-217170" algn="l">
              <a:lnSpc>
                <a:spcPts val="2879"/>
              </a:lnSpc>
            </a:pPr>
            <a:r>
              <a:rPr lang="en-US" sz="2400">
                <a:solidFill>
                  <a:srgbClr val="E3B23C"/>
                </a:solidFill>
                <a:latin typeface="Nunito Sans"/>
                <a:ea typeface="Nunito Sans"/>
                <a:cs typeface="Nunito Sans"/>
                <a:sym typeface="Nunito Sans"/>
              </a:rPr>
              <a:t>Gas-risk and environment monitoring using MQ135 and DHT11</a:t>
            </a:r>
          </a:p>
          <a:p>
            <a:pPr marL="434340" lvl="1" indent="-217170" algn="l">
              <a:lnSpc>
                <a:spcPts val="2879"/>
              </a:lnSpc>
            </a:pPr>
            <a:r>
              <a:rPr lang="en-US" sz="2400">
                <a:solidFill>
                  <a:srgbClr val="E3B23C"/>
                </a:solidFill>
                <a:latin typeface="Nunito Sans"/>
                <a:ea typeface="Nunito Sans"/>
                <a:cs typeface="Nunito Sans"/>
                <a:sym typeface="Nunito Sans"/>
              </a:rPr>
              <a:t>LoRa alerts, dashboard monitoring and robot-assisted assessment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372219" y="4088130"/>
            <a:ext cx="7772400" cy="2959573"/>
            <a:chOff x="0" y="0"/>
            <a:chExt cx="10363200" cy="394609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363200" cy="3946098"/>
            </a:xfrm>
            <a:custGeom>
              <a:avLst/>
              <a:gdLst/>
              <a:ahLst/>
              <a:cxnLst/>
              <a:rect l="l" t="t" r="r" b="b"/>
              <a:pathLst>
                <a:path w="10363200" h="3946098">
                  <a:moveTo>
                    <a:pt x="0" y="264455"/>
                  </a:moveTo>
                  <a:cubicBezTo>
                    <a:pt x="0" y="118411"/>
                    <a:pt x="108839" y="0"/>
                    <a:pt x="243078" y="0"/>
                  </a:cubicBezTo>
                  <a:lnTo>
                    <a:pt x="10120122" y="0"/>
                  </a:lnTo>
                  <a:cubicBezTo>
                    <a:pt x="10254361" y="0"/>
                    <a:pt x="10363200" y="118411"/>
                    <a:pt x="10363200" y="264455"/>
                  </a:cubicBezTo>
                  <a:lnTo>
                    <a:pt x="10363200" y="3681642"/>
                  </a:lnTo>
                  <a:cubicBezTo>
                    <a:pt x="10363200" y="3827687"/>
                    <a:pt x="10254361" y="3946098"/>
                    <a:pt x="10120122" y="3946098"/>
                  </a:cubicBezTo>
                  <a:lnTo>
                    <a:pt x="243078" y="3946098"/>
                  </a:lnTo>
                  <a:cubicBezTo>
                    <a:pt x="108839" y="3946098"/>
                    <a:pt x="0" y="3827687"/>
                    <a:pt x="0" y="3681642"/>
                  </a:cubicBezTo>
                  <a:close/>
                </a:path>
              </a:pathLst>
            </a:custGeom>
            <a:solidFill>
              <a:srgbClr val="521018"/>
            </a:solidFill>
            <a:ln w="19050" cap="sq">
              <a:solidFill>
                <a:srgbClr val="E3B23C"/>
              </a:solidFill>
              <a:prstDash val="solid"/>
              <a:miter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10404815" y="4248350"/>
            <a:ext cx="7189318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E3B23C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What makes it different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717481" y="4574838"/>
            <a:ext cx="7081876" cy="1451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8609" lvl="1" indent="-149304" algn="l">
              <a:lnSpc>
                <a:spcPts val="3359"/>
              </a:lnSpc>
              <a:buFont typeface="Arial"/>
              <a:buChar char="•"/>
            </a:pPr>
            <a:r>
              <a:rPr lang="en-US" sz="1650">
                <a:solidFill>
                  <a:srgbClr val="F3DDC0"/>
                </a:solidFill>
                <a:latin typeface="Nunito Sans"/>
                <a:ea typeface="Nunito Sans"/>
                <a:cs typeface="Nunito Sans"/>
                <a:sym typeface="Nunito Sans"/>
              </a:rPr>
              <a:t>Designed for areas without cellular connectivity</a:t>
            </a:r>
          </a:p>
          <a:p>
            <a:pPr marL="434340" lvl="1" indent="-217170" algn="l">
              <a:lnSpc>
                <a:spcPts val="3359"/>
              </a:lnSpc>
            </a:pPr>
            <a:endParaRPr lang="en-US" sz="1650">
              <a:solidFill>
                <a:srgbClr val="F3DDC0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marL="434340" lvl="1" indent="-217170" algn="l">
              <a:lnSpc>
                <a:spcPts val="2879"/>
              </a:lnSpc>
            </a:pPr>
            <a:r>
              <a:rPr lang="en-US" sz="2400">
                <a:solidFill>
                  <a:srgbClr val="E3B23C"/>
                </a:solidFill>
                <a:latin typeface="Nunito Sans"/>
                <a:ea typeface="Nunito Sans"/>
                <a:cs typeface="Nunito Sans"/>
                <a:sym typeface="Nunito Sans"/>
              </a:rPr>
              <a:t>Combines worker alerts with on-site robotic assessment</a:t>
            </a:r>
          </a:p>
          <a:p>
            <a:pPr marL="434340" lvl="1" indent="-217170" algn="l">
              <a:lnSpc>
                <a:spcPts val="2879"/>
              </a:lnSpc>
            </a:pPr>
            <a:r>
              <a:rPr lang="en-US" sz="2400">
                <a:solidFill>
                  <a:srgbClr val="E3B23C"/>
                </a:solidFill>
                <a:latin typeface="Nunito Sans"/>
                <a:ea typeface="Nunito Sans"/>
                <a:cs typeface="Nunito Sans"/>
                <a:sym typeface="Nunito Sans"/>
              </a:rPr>
              <a:t>Uses a sensor-equipped helmet and a motor-driven robot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19200" y="9328785"/>
            <a:ext cx="13735050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C9A98E"/>
                </a:solidFill>
                <a:latin typeface="Nunito Sans"/>
                <a:ea typeface="Nunito Sans"/>
                <a:cs typeface="Nunito Sans"/>
                <a:sym typeface="Nunito Sans"/>
              </a:rPr>
              <a:t>TECHNOVA 2026 · Team Name TBD · GSA MAKAUT × WebCraftzs Technologies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087600" y="9328785"/>
            <a:ext cx="1981200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C9A98E"/>
                </a:solidFill>
                <a:latin typeface="Nunito Sans"/>
                <a:ea typeface="Nunito Sans"/>
                <a:cs typeface="Nunito Sans"/>
                <a:sym typeface="Nunito Sa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0500"/>
            <a:chOff x="0" y="0"/>
            <a:chExt cx="24384000" cy="25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54000"/>
            </a:xfrm>
            <a:custGeom>
              <a:avLst/>
              <a:gdLst/>
              <a:ahLst/>
              <a:cxnLst/>
              <a:rect l="l" t="t" r="r" b="b"/>
              <a:pathLst>
                <a:path w="24384000" h="254000">
                  <a:moveTo>
                    <a:pt x="0" y="0"/>
                  </a:moveTo>
                  <a:lnTo>
                    <a:pt x="24384000" y="0"/>
                  </a:lnTo>
                  <a:lnTo>
                    <a:pt x="24384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C8102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190500"/>
            <a:ext cx="18288000" cy="57150"/>
            <a:chOff x="0" y="0"/>
            <a:chExt cx="24384000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76200"/>
            </a:xfrm>
            <a:custGeom>
              <a:avLst/>
              <a:gdLst/>
              <a:ahLst/>
              <a:cxnLst/>
              <a:rect l="l" t="t" r="r" b="b"/>
              <a:pathLst>
                <a:path w="24384000" h="762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3B23C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9982200"/>
            <a:ext cx="18288000" cy="57150"/>
            <a:chOff x="0" y="0"/>
            <a:chExt cx="24384000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76200"/>
            </a:xfrm>
            <a:custGeom>
              <a:avLst/>
              <a:gdLst/>
              <a:ahLst/>
              <a:cxnLst/>
              <a:rect l="l" t="t" r="r" b="b"/>
              <a:pathLst>
                <a:path w="24384000" h="762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3B23C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10039350"/>
            <a:ext cx="18288000" cy="247650"/>
            <a:chOff x="0" y="0"/>
            <a:chExt cx="24384000" cy="330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330200"/>
            </a:xfrm>
            <a:custGeom>
              <a:avLst/>
              <a:gdLst/>
              <a:ahLst/>
              <a:cxnLst/>
              <a:rect l="l" t="t" r="r" b="b"/>
              <a:pathLst>
                <a:path w="24384000" h="330200">
                  <a:moveTo>
                    <a:pt x="0" y="0"/>
                  </a:moveTo>
                  <a:lnTo>
                    <a:pt x="24384000" y="0"/>
                  </a:lnTo>
                  <a:lnTo>
                    <a:pt x="243840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C8102E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3574536" y="743902"/>
            <a:ext cx="3911979" cy="2297217"/>
            <a:chOff x="0" y="0"/>
            <a:chExt cx="5960428" cy="35001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960491" cy="3500120"/>
            </a:xfrm>
            <a:custGeom>
              <a:avLst/>
              <a:gdLst/>
              <a:ahLst/>
              <a:cxnLst/>
              <a:rect l="l" t="t" r="r" b="b"/>
              <a:pathLst>
                <a:path w="5960491" h="3500120">
                  <a:moveTo>
                    <a:pt x="0" y="243078"/>
                  </a:moveTo>
                  <a:cubicBezTo>
                    <a:pt x="0" y="108839"/>
                    <a:pt x="108839" y="0"/>
                    <a:pt x="243078" y="0"/>
                  </a:cubicBezTo>
                  <a:lnTo>
                    <a:pt x="5717413" y="0"/>
                  </a:lnTo>
                  <a:cubicBezTo>
                    <a:pt x="5851652" y="0"/>
                    <a:pt x="5960491" y="108839"/>
                    <a:pt x="5960491" y="243078"/>
                  </a:cubicBezTo>
                  <a:lnTo>
                    <a:pt x="5960491" y="3257042"/>
                  </a:lnTo>
                  <a:cubicBezTo>
                    <a:pt x="5960491" y="3391281"/>
                    <a:pt x="5851652" y="3500120"/>
                    <a:pt x="5717413" y="3500120"/>
                  </a:cubicBezTo>
                  <a:lnTo>
                    <a:pt x="243078" y="3500120"/>
                  </a:lnTo>
                  <a:cubicBezTo>
                    <a:pt x="108839" y="3500120"/>
                    <a:pt x="0" y="3391281"/>
                    <a:pt x="0" y="3257042"/>
                  </a:cubicBezTo>
                  <a:close/>
                </a:path>
              </a:pathLst>
            </a:custGeom>
            <a:solidFill>
              <a:srgbClr val="FFFBF3"/>
            </a:solidFill>
            <a:ln w="19050" cap="sq">
              <a:solidFill>
                <a:srgbClr val="E3B23C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 rot="5400000">
            <a:off x="14826176" y="3270489"/>
            <a:ext cx="1301879" cy="650940"/>
            <a:chOff x="0" y="0"/>
            <a:chExt cx="1016000" cy="508000"/>
          </a:xfrm>
        </p:grpSpPr>
        <p:sp>
          <p:nvSpPr>
            <p:cNvPr id="13" name="Freeform 13" descr="arrow-right"/>
            <p:cNvSpPr/>
            <p:nvPr/>
          </p:nvSpPr>
          <p:spPr>
            <a:xfrm>
              <a:off x="0" y="0"/>
              <a:ext cx="1016000" cy="508000"/>
            </a:xfrm>
            <a:custGeom>
              <a:avLst/>
              <a:gdLst/>
              <a:ahLst/>
              <a:cxnLst/>
              <a:rect l="l" t="t" r="r" b="b"/>
              <a:pathLst>
                <a:path w="1016000" h="508000">
                  <a:moveTo>
                    <a:pt x="0" y="0"/>
                  </a:moveTo>
                  <a:lnTo>
                    <a:pt x="1016000" y="0"/>
                  </a:lnTo>
                  <a:lnTo>
                    <a:pt x="1016000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3574436" y="4220516"/>
            <a:ext cx="3912079" cy="2297217"/>
            <a:chOff x="0" y="0"/>
            <a:chExt cx="5960580" cy="35001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960618" cy="3500120"/>
            </a:xfrm>
            <a:custGeom>
              <a:avLst/>
              <a:gdLst/>
              <a:ahLst/>
              <a:cxnLst/>
              <a:rect l="l" t="t" r="r" b="b"/>
              <a:pathLst>
                <a:path w="5960618" h="3500120">
                  <a:moveTo>
                    <a:pt x="0" y="243078"/>
                  </a:moveTo>
                  <a:cubicBezTo>
                    <a:pt x="0" y="108839"/>
                    <a:pt x="108839" y="0"/>
                    <a:pt x="243078" y="0"/>
                  </a:cubicBezTo>
                  <a:lnTo>
                    <a:pt x="5717540" y="0"/>
                  </a:lnTo>
                  <a:cubicBezTo>
                    <a:pt x="5851779" y="0"/>
                    <a:pt x="5960618" y="108839"/>
                    <a:pt x="5960618" y="243078"/>
                  </a:cubicBezTo>
                  <a:lnTo>
                    <a:pt x="5960618" y="3257042"/>
                  </a:lnTo>
                  <a:cubicBezTo>
                    <a:pt x="5960618" y="3391281"/>
                    <a:pt x="5851779" y="3500120"/>
                    <a:pt x="5717540" y="3500120"/>
                  </a:cubicBezTo>
                  <a:lnTo>
                    <a:pt x="243078" y="3500120"/>
                  </a:lnTo>
                  <a:cubicBezTo>
                    <a:pt x="108839" y="3500120"/>
                    <a:pt x="0" y="3391281"/>
                    <a:pt x="0" y="3257042"/>
                  </a:cubicBezTo>
                  <a:close/>
                </a:path>
              </a:pathLst>
            </a:custGeom>
            <a:solidFill>
              <a:srgbClr val="FFFBF3"/>
            </a:solidFill>
            <a:ln w="19050" cap="sq">
              <a:solidFill>
                <a:srgbClr val="E3B23C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3754278" y="7480488"/>
            <a:ext cx="4029266" cy="2005460"/>
            <a:chOff x="0" y="0"/>
            <a:chExt cx="5960580" cy="29667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960491" cy="2966720"/>
            </a:xfrm>
            <a:custGeom>
              <a:avLst/>
              <a:gdLst/>
              <a:ahLst/>
              <a:cxnLst/>
              <a:rect l="l" t="t" r="r" b="b"/>
              <a:pathLst>
                <a:path w="5960491" h="2966720">
                  <a:moveTo>
                    <a:pt x="0" y="243332"/>
                  </a:moveTo>
                  <a:cubicBezTo>
                    <a:pt x="0" y="108966"/>
                    <a:pt x="108966" y="0"/>
                    <a:pt x="243332" y="0"/>
                  </a:cubicBezTo>
                  <a:lnTo>
                    <a:pt x="5717159" y="0"/>
                  </a:lnTo>
                  <a:cubicBezTo>
                    <a:pt x="5851525" y="0"/>
                    <a:pt x="5960491" y="108966"/>
                    <a:pt x="5960491" y="243332"/>
                  </a:cubicBezTo>
                  <a:lnTo>
                    <a:pt x="5960491" y="2723388"/>
                  </a:lnTo>
                  <a:cubicBezTo>
                    <a:pt x="5960491" y="2857754"/>
                    <a:pt x="5851525" y="2966720"/>
                    <a:pt x="5717159" y="2966720"/>
                  </a:cubicBezTo>
                  <a:lnTo>
                    <a:pt x="243332" y="2966720"/>
                  </a:lnTo>
                  <a:cubicBezTo>
                    <a:pt x="108966" y="2966720"/>
                    <a:pt x="0" y="2857754"/>
                    <a:pt x="0" y="2723388"/>
                  </a:cubicBezTo>
                  <a:close/>
                </a:path>
              </a:pathLst>
            </a:custGeom>
            <a:solidFill>
              <a:srgbClr val="FFFBF3"/>
            </a:solidFill>
            <a:ln w="19050" cap="sq">
              <a:solidFill>
                <a:srgbClr val="E3B23C"/>
              </a:solidFill>
              <a:prstDash val="solid"/>
              <a:miter/>
            </a:ln>
          </p:spPr>
        </p:sp>
      </p:grpSp>
      <p:sp>
        <p:nvSpPr>
          <p:cNvPr id="18" name="Freeform 18"/>
          <p:cNvSpPr/>
          <p:nvPr/>
        </p:nvSpPr>
        <p:spPr>
          <a:xfrm>
            <a:off x="920110" y="2821752"/>
            <a:ext cx="4291865" cy="6154296"/>
          </a:xfrm>
          <a:custGeom>
            <a:avLst/>
            <a:gdLst/>
            <a:ahLst/>
            <a:cxnLst/>
            <a:rect l="l" t="t" r="r" b="b"/>
            <a:pathLst>
              <a:path w="4710417" h="6882141">
                <a:moveTo>
                  <a:pt x="0" y="0"/>
                </a:moveTo>
                <a:lnTo>
                  <a:pt x="4710417" y="0"/>
                </a:lnTo>
                <a:lnTo>
                  <a:pt x="4710417" y="6882141"/>
                </a:lnTo>
                <a:lnTo>
                  <a:pt x="0" y="68821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3971005" y="7491987"/>
            <a:ext cx="3315145" cy="275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9"/>
              </a:lnSpc>
            </a:pPr>
            <a:r>
              <a:rPr lang="en-US" sz="1706" b="1" spc="262">
                <a:solidFill>
                  <a:srgbClr val="C8102E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STEP 3</a:t>
            </a:r>
          </a:p>
        </p:txBody>
      </p:sp>
      <p:grpSp>
        <p:nvGrpSpPr>
          <p:cNvPr id="20" name="Group 20"/>
          <p:cNvGrpSpPr/>
          <p:nvPr/>
        </p:nvGrpSpPr>
        <p:grpSpPr>
          <a:xfrm rot="5400000">
            <a:off x="14961339" y="6739571"/>
            <a:ext cx="1301879" cy="650940"/>
            <a:chOff x="0" y="0"/>
            <a:chExt cx="1016000" cy="508000"/>
          </a:xfrm>
        </p:grpSpPr>
        <p:sp>
          <p:nvSpPr>
            <p:cNvPr id="21" name="Freeform 21" descr="arrow-right"/>
            <p:cNvSpPr/>
            <p:nvPr/>
          </p:nvSpPr>
          <p:spPr>
            <a:xfrm>
              <a:off x="0" y="0"/>
              <a:ext cx="1016000" cy="508000"/>
            </a:xfrm>
            <a:custGeom>
              <a:avLst/>
              <a:gdLst/>
              <a:ahLst/>
              <a:cxnLst/>
              <a:rect l="l" t="t" r="r" b="b"/>
              <a:pathLst>
                <a:path w="1016000" h="508000">
                  <a:moveTo>
                    <a:pt x="0" y="0"/>
                  </a:moveTo>
                  <a:lnTo>
                    <a:pt x="1016000" y="0"/>
                  </a:lnTo>
                  <a:lnTo>
                    <a:pt x="1016000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22" name="Freeform 22"/>
          <p:cNvSpPr/>
          <p:nvPr/>
        </p:nvSpPr>
        <p:spPr>
          <a:xfrm>
            <a:off x="5476201" y="2036445"/>
            <a:ext cx="7890545" cy="7221855"/>
          </a:xfrm>
          <a:custGeom>
            <a:avLst/>
            <a:gdLst/>
            <a:ahLst/>
            <a:cxnLst/>
            <a:rect l="l" t="t" r="r" b="b"/>
            <a:pathLst>
              <a:path w="7890545" h="7221855">
                <a:moveTo>
                  <a:pt x="0" y="0"/>
                </a:moveTo>
                <a:lnTo>
                  <a:pt x="7890546" y="0"/>
                </a:lnTo>
                <a:lnTo>
                  <a:pt x="7890546" y="7221855"/>
                </a:lnTo>
                <a:lnTo>
                  <a:pt x="0" y="72218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001773" y="632460"/>
            <a:ext cx="16325088" cy="34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29"/>
              </a:lnSpc>
            </a:pPr>
            <a:r>
              <a:rPr lang="en-US" sz="1950" b="1" spc="375">
                <a:solidFill>
                  <a:srgbClr val="C8102E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03 · HOW IT WORKS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01773" y="1249680"/>
            <a:ext cx="8066484" cy="786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5400" b="1">
                <a:solidFill>
                  <a:srgbClr val="3B0A0E"/>
                </a:solidFill>
                <a:latin typeface="Cinzel Bold"/>
                <a:ea typeface="Cinzel Bold"/>
                <a:cs typeface="Cinzel Bold"/>
                <a:sym typeface="Cinzel Bold"/>
              </a:rPr>
              <a:t>From input to impact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208390" y="890369"/>
            <a:ext cx="3315036" cy="275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9"/>
              </a:lnSpc>
            </a:pPr>
            <a:r>
              <a:rPr lang="en-US" sz="1706" b="1" spc="262">
                <a:solidFill>
                  <a:srgbClr val="C8102E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STEP 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954761" y="1175673"/>
            <a:ext cx="3315036" cy="400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 b="1">
                <a:solidFill>
                  <a:srgbClr val="3B0A0E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Helmet sensing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954761" y="1677758"/>
            <a:ext cx="3315036" cy="133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6"/>
              </a:lnSpc>
            </a:pPr>
            <a:r>
              <a:rPr lang="en-US" sz="1443">
                <a:solidFill>
                  <a:srgbClr val="5A2A2A"/>
                </a:solidFill>
                <a:latin typeface="Nunito Sans"/>
                <a:ea typeface="Nunito Sans"/>
                <a:cs typeface="Nunito Sans"/>
                <a:sym typeface="Nunito Sans"/>
              </a:rPr>
              <a:t>MPU6050 detects a sudden impact/fall; MQ135 and DHT11 monitor gas-risk and environmental conditions.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052745" y="4298906"/>
            <a:ext cx="3315145" cy="275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9"/>
              </a:lnSpc>
            </a:pPr>
            <a:r>
              <a:rPr lang="en-US" sz="1706" b="1" spc="262">
                <a:solidFill>
                  <a:srgbClr val="C8102E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STEP 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052745" y="4721386"/>
            <a:ext cx="3315145" cy="400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 b="1">
                <a:solidFill>
                  <a:srgbClr val="3B0A0E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LoRa mesh alert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052745" y="5273874"/>
            <a:ext cx="3315145" cy="99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6"/>
              </a:lnSpc>
            </a:pPr>
            <a:r>
              <a:rPr lang="en-US" sz="1443">
                <a:solidFill>
                  <a:srgbClr val="5A2A2A"/>
                </a:solidFill>
                <a:latin typeface="Nunito Sans"/>
                <a:ea typeface="Nunito Sans"/>
                <a:cs typeface="Nunito Sans"/>
                <a:sym typeface="Nunito Sans"/>
              </a:rPr>
              <a:t>RFM02 sends the alert to the control-room dashboard even when cellular data is unavailable.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145013" y="7729189"/>
            <a:ext cx="3315145" cy="400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 b="1">
                <a:solidFill>
                  <a:srgbClr val="3B0A0E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Robot assessment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052749" y="7942813"/>
            <a:ext cx="3433766" cy="1376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5"/>
              </a:lnSpc>
            </a:pPr>
            <a:r>
              <a:rPr lang="en-US" sz="1495">
                <a:solidFill>
                  <a:srgbClr val="5A2A2A"/>
                </a:solidFill>
                <a:latin typeface="Nunito Sans"/>
                <a:ea typeface="Nunito Sans"/>
                <a:cs typeface="Nunito Sans"/>
                <a:sym typeface="Nunito Sans"/>
              </a:rPr>
              <a:t>The robot checks mine conditions; radar supports a search for trapped people after a landslide. Gas hazards prompt a safe ventilation response.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19200" y="9328785"/>
            <a:ext cx="13735050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A5A4A"/>
                </a:solidFill>
                <a:latin typeface="Nunito Sans"/>
                <a:ea typeface="Nunito Sans"/>
                <a:cs typeface="Nunito Sans"/>
                <a:sym typeface="Nunito Sans"/>
              </a:rPr>
              <a:t>TECHNOVA 2026 · Team Name TBD · GSA MAKAUT × WebCraftzs Technologies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087600" y="9328785"/>
            <a:ext cx="1981200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8A5A4A"/>
                </a:solidFill>
                <a:latin typeface="Nunito Sans"/>
                <a:ea typeface="Nunito Sans"/>
                <a:cs typeface="Nunito Sans"/>
                <a:sym typeface="Nunito 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0500"/>
            <a:chOff x="0" y="0"/>
            <a:chExt cx="24384000" cy="25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54000"/>
            </a:xfrm>
            <a:custGeom>
              <a:avLst/>
              <a:gdLst/>
              <a:ahLst/>
              <a:cxnLst/>
              <a:rect l="l" t="t" r="r" b="b"/>
              <a:pathLst>
                <a:path w="24384000" h="254000">
                  <a:moveTo>
                    <a:pt x="0" y="0"/>
                  </a:moveTo>
                  <a:lnTo>
                    <a:pt x="24384000" y="0"/>
                  </a:lnTo>
                  <a:lnTo>
                    <a:pt x="24384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C8102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190500"/>
            <a:ext cx="18288000" cy="57150"/>
            <a:chOff x="0" y="0"/>
            <a:chExt cx="24384000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76200"/>
            </a:xfrm>
            <a:custGeom>
              <a:avLst/>
              <a:gdLst/>
              <a:ahLst/>
              <a:cxnLst/>
              <a:rect l="l" t="t" r="r" b="b"/>
              <a:pathLst>
                <a:path w="24384000" h="762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3B23C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9982200"/>
            <a:ext cx="18288000" cy="57150"/>
            <a:chOff x="0" y="0"/>
            <a:chExt cx="24384000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76200"/>
            </a:xfrm>
            <a:custGeom>
              <a:avLst/>
              <a:gdLst/>
              <a:ahLst/>
              <a:cxnLst/>
              <a:rect l="l" t="t" r="r" b="b"/>
              <a:pathLst>
                <a:path w="24384000" h="762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3B23C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10039350"/>
            <a:ext cx="18288000" cy="247650"/>
            <a:chOff x="0" y="0"/>
            <a:chExt cx="24384000" cy="330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330200"/>
            </a:xfrm>
            <a:custGeom>
              <a:avLst/>
              <a:gdLst/>
              <a:ahLst/>
              <a:cxnLst/>
              <a:rect l="l" t="t" r="r" b="b"/>
              <a:pathLst>
                <a:path w="24384000" h="330200">
                  <a:moveTo>
                    <a:pt x="0" y="0"/>
                  </a:moveTo>
                  <a:lnTo>
                    <a:pt x="24384000" y="0"/>
                  </a:lnTo>
                  <a:lnTo>
                    <a:pt x="243840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C8102E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219200" y="1171575"/>
            <a:ext cx="16325088" cy="4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 spc="375">
                <a:solidFill>
                  <a:srgbClr val="E3B23C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04 · DEMO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0" y="1746885"/>
            <a:ext cx="16325088" cy="798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5400" b="1">
                <a:solidFill>
                  <a:srgbClr val="FBF3E6"/>
                </a:solidFill>
                <a:latin typeface="Cinzel Bold"/>
                <a:ea typeface="Cinzel Bold"/>
                <a:cs typeface="Cinzel Bold"/>
                <a:sym typeface="Cinzel Bold"/>
              </a:rPr>
              <a:t>See it in action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219200" y="2964180"/>
            <a:ext cx="5079921" cy="3810000"/>
            <a:chOff x="0" y="0"/>
            <a:chExt cx="6773228" cy="508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773291" cy="5080000"/>
            </a:xfrm>
            <a:custGeom>
              <a:avLst/>
              <a:gdLst/>
              <a:ahLst/>
              <a:cxnLst/>
              <a:rect l="l" t="t" r="r" b="b"/>
              <a:pathLst>
                <a:path w="6773291" h="5080000">
                  <a:moveTo>
                    <a:pt x="0" y="236728"/>
                  </a:moveTo>
                  <a:cubicBezTo>
                    <a:pt x="0" y="106045"/>
                    <a:pt x="106045" y="0"/>
                    <a:pt x="236728" y="0"/>
                  </a:cubicBezTo>
                  <a:lnTo>
                    <a:pt x="6536563" y="0"/>
                  </a:lnTo>
                  <a:cubicBezTo>
                    <a:pt x="6667246" y="0"/>
                    <a:pt x="6773291" y="106045"/>
                    <a:pt x="6773291" y="236728"/>
                  </a:cubicBezTo>
                  <a:lnTo>
                    <a:pt x="6773291" y="4843272"/>
                  </a:lnTo>
                  <a:cubicBezTo>
                    <a:pt x="6773291" y="4973955"/>
                    <a:pt x="6667246" y="5080000"/>
                    <a:pt x="6536563" y="5080000"/>
                  </a:cubicBezTo>
                  <a:lnTo>
                    <a:pt x="236728" y="5080000"/>
                  </a:lnTo>
                  <a:cubicBezTo>
                    <a:pt x="106045" y="5080000"/>
                    <a:pt x="0" y="4973955"/>
                    <a:pt x="0" y="4843272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8" r="-46227"/>
              </a:stretch>
            </a:blipFill>
            <a:ln w="28575" cap="sq">
              <a:solidFill>
                <a:srgbClr val="E3B23C"/>
              </a:solidFill>
              <a:prstDash val="dash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6773228" cy="511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E3B23C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Control-room dashboard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219200" y="6793230"/>
            <a:ext cx="5232321" cy="544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7"/>
              </a:lnSpc>
            </a:pPr>
            <a:r>
              <a:rPr lang="en-US" sz="1155">
                <a:solidFill>
                  <a:srgbClr val="F3DDC0"/>
                </a:solidFill>
                <a:latin typeface="Nunito Sans"/>
                <a:ea typeface="Nunito Sans"/>
                <a:cs typeface="Nunito Sans"/>
                <a:sym typeface="Nunito Sans"/>
              </a:rPr>
              <a:t>Radar-assisted search to help identify whether a person may be trapped.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603921" y="2964180"/>
            <a:ext cx="5080035" cy="3810000"/>
            <a:chOff x="0" y="0"/>
            <a:chExt cx="6773380" cy="508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773418" cy="5080000"/>
            </a:xfrm>
            <a:custGeom>
              <a:avLst/>
              <a:gdLst/>
              <a:ahLst/>
              <a:cxnLst/>
              <a:rect l="l" t="t" r="r" b="b"/>
              <a:pathLst>
                <a:path w="6773418" h="5080000">
                  <a:moveTo>
                    <a:pt x="0" y="236728"/>
                  </a:moveTo>
                  <a:cubicBezTo>
                    <a:pt x="0" y="106045"/>
                    <a:pt x="106045" y="0"/>
                    <a:pt x="236728" y="0"/>
                  </a:cubicBezTo>
                  <a:lnTo>
                    <a:pt x="6536690" y="0"/>
                  </a:lnTo>
                  <a:cubicBezTo>
                    <a:pt x="6667373" y="0"/>
                    <a:pt x="6773418" y="106045"/>
                    <a:pt x="6773418" y="236728"/>
                  </a:cubicBezTo>
                  <a:lnTo>
                    <a:pt x="6773418" y="4843272"/>
                  </a:lnTo>
                  <a:cubicBezTo>
                    <a:pt x="6773418" y="4973955"/>
                    <a:pt x="6667373" y="5080000"/>
                    <a:pt x="6536690" y="5080000"/>
                  </a:cubicBezTo>
                  <a:lnTo>
                    <a:pt x="236728" y="5080000"/>
                  </a:lnTo>
                  <a:cubicBezTo>
                    <a:pt x="106045" y="5080000"/>
                    <a:pt x="0" y="4973955"/>
                    <a:pt x="0" y="4843272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6" r="-46226"/>
              </a:stretch>
            </a:blipFill>
            <a:ln w="28575" cap="sq">
              <a:solidFill>
                <a:srgbClr val="E3B23C"/>
              </a:solidFill>
              <a:prstDash val="dash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6773380" cy="511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E3B23C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Robot deployment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603921" y="6793230"/>
            <a:ext cx="5232444" cy="544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7"/>
              </a:lnSpc>
            </a:pPr>
            <a:r>
              <a:rPr lang="en-US" sz="1155">
                <a:solidFill>
                  <a:srgbClr val="F3DDC0"/>
                </a:solidFill>
                <a:latin typeface="Nunito Sans"/>
                <a:ea typeface="Nunito Sans"/>
                <a:cs typeface="Nunito Sans"/>
                <a:sym typeface="Nunito Sans"/>
              </a:rPr>
              <a:t>Radar-assisted search to help identify whether a person may be trapped.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1988765" y="2964180"/>
            <a:ext cx="5080035" cy="3810000"/>
            <a:chOff x="0" y="0"/>
            <a:chExt cx="6773380" cy="5080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773418" cy="5080000"/>
            </a:xfrm>
            <a:custGeom>
              <a:avLst/>
              <a:gdLst/>
              <a:ahLst/>
              <a:cxnLst/>
              <a:rect l="l" t="t" r="r" b="b"/>
              <a:pathLst>
                <a:path w="6773418" h="5080000">
                  <a:moveTo>
                    <a:pt x="0" y="236728"/>
                  </a:moveTo>
                  <a:cubicBezTo>
                    <a:pt x="0" y="106045"/>
                    <a:pt x="106045" y="0"/>
                    <a:pt x="236728" y="0"/>
                  </a:cubicBezTo>
                  <a:lnTo>
                    <a:pt x="6536690" y="0"/>
                  </a:lnTo>
                  <a:cubicBezTo>
                    <a:pt x="6667373" y="0"/>
                    <a:pt x="6773418" y="106045"/>
                    <a:pt x="6773418" y="236728"/>
                  </a:cubicBezTo>
                  <a:lnTo>
                    <a:pt x="6773418" y="4843272"/>
                  </a:lnTo>
                  <a:cubicBezTo>
                    <a:pt x="6773418" y="4973955"/>
                    <a:pt x="6667373" y="5080000"/>
                    <a:pt x="6536690" y="5080000"/>
                  </a:cubicBezTo>
                  <a:lnTo>
                    <a:pt x="236728" y="5080000"/>
                  </a:lnTo>
                  <a:cubicBezTo>
                    <a:pt x="106045" y="5080000"/>
                    <a:pt x="0" y="4973955"/>
                    <a:pt x="0" y="4843272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6" r="-46226"/>
              </a:stretch>
            </a:blipFill>
            <a:ln w="28575" cap="sq">
              <a:solidFill>
                <a:srgbClr val="E3B23C"/>
              </a:solidFill>
              <a:prstDash val="dash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6773380" cy="511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E3B23C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Search after landslide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988765" y="6793230"/>
            <a:ext cx="5232444" cy="544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7"/>
              </a:lnSpc>
            </a:pPr>
            <a:r>
              <a:rPr lang="en-US" sz="1155">
                <a:solidFill>
                  <a:srgbClr val="F3DDC0"/>
                </a:solidFill>
                <a:latin typeface="Nunito Sans"/>
                <a:ea typeface="Nunito Sans"/>
                <a:cs typeface="Nunito Sans"/>
                <a:sym typeface="Nunito Sans"/>
              </a:rPr>
              <a:t>Radar-assisted search to help identify whether a person may be trapped.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19200" y="9328785"/>
            <a:ext cx="13735050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C9A98E"/>
                </a:solidFill>
                <a:latin typeface="Nunito Sans"/>
                <a:ea typeface="Nunito Sans"/>
                <a:cs typeface="Nunito Sans"/>
                <a:sym typeface="Nunito Sans"/>
              </a:rPr>
              <a:t>TECHNOVA 2026 · Team Name TBD · GSA MAKAUT × WebCraftzs Technologies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087600" y="9328785"/>
            <a:ext cx="1981200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C9A98E"/>
                </a:solidFill>
                <a:latin typeface="Nunito Sans"/>
                <a:ea typeface="Nunito Sans"/>
                <a:cs typeface="Nunito Sans"/>
                <a:sym typeface="Nunito Sans"/>
              </a:rPr>
              <a:t>05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3A09217-1A80-28AF-44BF-582F5C6A84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631" y="2849787"/>
            <a:ext cx="5232482" cy="392439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7D78644-2C7A-E7A0-80F7-EB09AE8049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1993" y="2892695"/>
            <a:ext cx="5232443" cy="392439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93CBF1A-94A0-79D5-DBFA-F94FA9AB78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58294" y="2891790"/>
            <a:ext cx="5232444" cy="39658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0500"/>
            <a:chOff x="0" y="0"/>
            <a:chExt cx="24384000" cy="25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54000"/>
            </a:xfrm>
            <a:custGeom>
              <a:avLst/>
              <a:gdLst/>
              <a:ahLst/>
              <a:cxnLst/>
              <a:rect l="l" t="t" r="r" b="b"/>
              <a:pathLst>
                <a:path w="24384000" h="254000">
                  <a:moveTo>
                    <a:pt x="0" y="0"/>
                  </a:moveTo>
                  <a:lnTo>
                    <a:pt x="24384000" y="0"/>
                  </a:lnTo>
                  <a:lnTo>
                    <a:pt x="24384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C8102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190500"/>
            <a:ext cx="18288000" cy="57150"/>
            <a:chOff x="0" y="0"/>
            <a:chExt cx="24384000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76200"/>
            </a:xfrm>
            <a:custGeom>
              <a:avLst/>
              <a:gdLst/>
              <a:ahLst/>
              <a:cxnLst/>
              <a:rect l="l" t="t" r="r" b="b"/>
              <a:pathLst>
                <a:path w="24384000" h="762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3B23C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9982200"/>
            <a:ext cx="18288000" cy="57150"/>
            <a:chOff x="0" y="0"/>
            <a:chExt cx="24384000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76200"/>
            </a:xfrm>
            <a:custGeom>
              <a:avLst/>
              <a:gdLst/>
              <a:ahLst/>
              <a:cxnLst/>
              <a:rect l="l" t="t" r="r" b="b"/>
              <a:pathLst>
                <a:path w="24384000" h="762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3B23C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10039350"/>
            <a:ext cx="18288000" cy="247650"/>
            <a:chOff x="0" y="0"/>
            <a:chExt cx="24384000" cy="330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330200"/>
            </a:xfrm>
            <a:custGeom>
              <a:avLst/>
              <a:gdLst/>
              <a:ahLst/>
              <a:cxnLst/>
              <a:rect l="l" t="t" r="r" b="b"/>
              <a:pathLst>
                <a:path w="24384000" h="330200">
                  <a:moveTo>
                    <a:pt x="0" y="0"/>
                  </a:moveTo>
                  <a:lnTo>
                    <a:pt x="24384000" y="0"/>
                  </a:lnTo>
                  <a:lnTo>
                    <a:pt x="243840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C8102E"/>
            </a:solidFill>
          </p:spPr>
        </p:sp>
      </p:grpSp>
      <p:graphicFrame>
        <p:nvGraphicFramePr>
          <p:cNvPr id="10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78350"/>
              </p:ext>
            </p:extLst>
          </p:nvPr>
        </p:nvGraphicFramePr>
        <p:xfrm>
          <a:off x="762001" y="2128212"/>
          <a:ext cx="8849209" cy="6807200"/>
        </p:xfrm>
        <a:graphic>
          <a:graphicData uri="http://schemas.openxmlformats.org/drawingml/2006/table">
            <a:tbl>
              <a:tblPr/>
              <a:tblGrid>
                <a:gridCol w="2666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6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5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2083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E3B23C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Layer</a:t>
                      </a:r>
                      <a:endParaRPr lang="en-US" sz="1100"/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1" dirty="0">
                          <a:solidFill>
                            <a:srgbClr val="E3B23C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Technology</a:t>
                      </a:r>
                      <a:endParaRPr lang="en-US" sz="1100" dirty="0"/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A0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E3B23C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Why we chose it</a:t>
                      </a:r>
                      <a:endParaRPr lang="en-US" sz="1100"/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A0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3317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E3B23C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Helmet sensors</a:t>
                      </a:r>
                      <a:endParaRPr lang="en-US" sz="1100"/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dirty="0">
                          <a:solidFill>
                            <a:srgbClr val="E3B23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MPU6050, MQ135, DHT11</a:t>
                      </a:r>
                      <a:endParaRPr lang="en-US" sz="1100" dirty="0"/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E3B23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Fall/impact and environment monitoring; validate gas sensing for methane-specific use.</a:t>
                      </a:r>
                      <a:endParaRPr lang="en-US" sz="1100"/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1" dirty="0">
                          <a:solidFill>
                            <a:srgbClr val="E3B23C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Communication</a:t>
                      </a:r>
                      <a:endParaRPr lang="en-US" sz="1100" dirty="0"/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8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8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dirty="0">
                          <a:solidFill>
                            <a:srgbClr val="E3B23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RFM02 / LoRa mesh</a:t>
                      </a:r>
                      <a:endParaRPr lang="en-US" sz="1100" dirty="0"/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3B8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8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8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dirty="0">
                          <a:solidFill>
                            <a:srgbClr val="E3B23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Carries alerts when cellular data is unavailable.</a:t>
                      </a:r>
                      <a:endParaRPr lang="en-US" sz="1100" dirty="0"/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3B8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8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8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E3B23C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Rescue robot</a:t>
                      </a:r>
                      <a:endParaRPr lang="en-US" sz="1100"/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8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E3B23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Radar + L298N motor driver</a:t>
                      </a:r>
                      <a:endParaRPr lang="en-US" sz="1100"/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8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E3B23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Radar-assisted search; L298N drives the robot motors.</a:t>
                      </a:r>
                      <a:endParaRPr lang="en-US" sz="1100"/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8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E3B23C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Control room</a:t>
                      </a:r>
                      <a:endParaRPr lang="en-US" sz="1100"/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8C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8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8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E3B23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Dashboard</a:t>
                      </a:r>
                      <a:endParaRPr lang="en-US" sz="1100"/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3B8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8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8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dirty="0">
                          <a:solidFill>
                            <a:srgbClr val="E3B23C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Displays alerts and supports response coordination.</a:t>
                      </a:r>
                      <a:endParaRPr lang="en-US" sz="1100" dirty="0"/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3B8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8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8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Freeform 11"/>
          <p:cNvSpPr/>
          <p:nvPr/>
        </p:nvSpPr>
        <p:spPr>
          <a:xfrm>
            <a:off x="9611210" y="3495982"/>
            <a:ext cx="8382000" cy="4956176"/>
          </a:xfrm>
          <a:custGeom>
            <a:avLst/>
            <a:gdLst/>
            <a:ahLst/>
            <a:cxnLst/>
            <a:rect l="l" t="t" r="r" b="b"/>
            <a:pathLst>
              <a:path w="8392008" h="4253699">
                <a:moveTo>
                  <a:pt x="0" y="0"/>
                </a:moveTo>
                <a:lnTo>
                  <a:pt x="8392008" y="0"/>
                </a:lnTo>
                <a:lnTo>
                  <a:pt x="8392008" y="4253699"/>
                </a:lnTo>
                <a:lnTo>
                  <a:pt x="0" y="42536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257300" y="788670"/>
            <a:ext cx="16325088" cy="4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 spc="375">
                <a:solidFill>
                  <a:srgbClr val="C8102E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05 · TECH STACK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57300" y="1291917"/>
            <a:ext cx="16325088" cy="798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5400" b="1">
                <a:solidFill>
                  <a:srgbClr val="3B0A0E"/>
                </a:solidFill>
                <a:latin typeface="Cinzel Bold"/>
                <a:ea typeface="Cinzel Bold"/>
                <a:cs typeface="Cinzel Bold"/>
                <a:sym typeface="Cinzel Bold"/>
              </a:rPr>
              <a:t>What we built it with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1992" y="9328785"/>
            <a:ext cx="13735050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A5A4A"/>
                </a:solidFill>
                <a:latin typeface="Nunito Sans"/>
                <a:ea typeface="Nunito Sans"/>
                <a:cs typeface="Nunito Sans"/>
                <a:sym typeface="Nunito Sans"/>
              </a:rPr>
              <a:t>TECHNOVA 2026 · Team Name TBD · GSA MAKAUT × WebCraftzs Technologies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087600" y="9328785"/>
            <a:ext cx="1981200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8A5A4A"/>
                </a:solidFill>
                <a:latin typeface="Nunito Sans"/>
                <a:ea typeface="Nunito Sans"/>
                <a:cs typeface="Nunito Sans"/>
                <a:sym typeface="Nunito Sa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1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0500"/>
            <a:chOff x="0" y="0"/>
            <a:chExt cx="24384000" cy="25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54000"/>
            </a:xfrm>
            <a:custGeom>
              <a:avLst/>
              <a:gdLst/>
              <a:ahLst/>
              <a:cxnLst/>
              <a:rect l="l" t="t" r="r" b="b"/>
              <a:pathLst>
                <a:path w="24384000" h="254000">
                  <a:moveTo>
                    <a:pt x="0" y="0"/>
                  </a:moveTo>
                  <a:lnTo>
                    <a:pt x="24384000" y="0"/>
                  </a:lnTo>
                  <a:lnTo>
                    <a:pt x="24384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3B0A0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190500"/>
            <a:ext cx="18288000" cy="57150"/>
            <a:chOff x="0" y="0"/>
            <a:chExt cx="24384000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76200"/>
            </a:xfrm>
            <a:custGeom>
              <a:avLst/>
              <a:gdLst/>
              <a:ahLst/>
              <a:cxnLst/>
              <a:rect l="l" t="t" r="r" b="b"/>
              <a:pathLst>
                <a:path w="24384000" h="762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3B23C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9982200"/>
            <a:ext cx="18288000" cy="57150"/>
            <a:chOff x="0" y="0"/>
            <a:chExt cx="24384000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76200"/>
            </a:xfrm>
            <a:custGeom>
              <a:avLst/>
              <a:gdLst/>
              <a:ahLst/>
              <a:cxnLst/>
              <a:rect l="l" t="t" r="r" b="b"/>
              <a:pathLst>
                <a:path w="24384000" h="762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3B23C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10039350"/>
            <a:ext cx="18288000" cy="247650"/>
            <a:chOff x="0" y="0"/>
            <a:chExt cx="24384000" cy="330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330200"/>
            </a:xfrm>
            <a:custGeom>
              <a:avLst/>
              <a:gdLst/>
              <a:ahLst/>
              <a:cxnLst/>
              <a:rect l="l" t="t" r="r" b="b"/>
              <a:pathLst>
                <a:path w="24384000" h="330200">
                  <a:moveTo>
                    <a:pt x="0" y="0"/>
                  </a:moveTo>
                  <a:lnTo>
                    <a:pt x="24384000" y="0"/>
                  </a:lnTo>
                  <a:lnTo>
                    <a:pt x="243840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3B0A0E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922606" y="1171889"/>
            <a:ext cx="16918276" cy="7886072"/>
          </a:xfrm>
          <a:custGeom>
            <a:avLst/>
            <a:gdLst/>
            <a:ahLst/>
            <a:cxnLst/>
            <a:rect l="l" t="t" r="r" b="b"/>
            <a:pathLst>
              <a:path w="16918276" h="7886072">
                <a:moveTo>
                  <a:pt x="0" y="0"/>
                </a:moveTo>
                <a:lnTo>
                  <a:pt x="16918276" y="0"/>
                </a:lnTo>
                <a:lnTo>
                  <a:pt x="16918276" y="7886072"/>
                </a:lnTo>
                <a:lnTo>
                  <a:pt x="0" y="78860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8000"/>
            </a:blip>
            <a:stretch>
              <a:fillRect t="-6735" b="-10366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219200" y="1378445"/>
            <a:ext cx="16325088" cy="4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 spc="375">
                <a:solidFill>
                  <a:srgbClr val="3B0A0E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06 · IMPACT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2606" y="1549895"/>
            <a:ext cx="11779662" cy="1840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190"/>
              </a:lnSpc>
            </a:pPr>
            <a:r>
              <a:rPr lang="en-US" sz="12900" b="1">
                <a:solidFill>
                  <a:srgbClr val="3B0A0E"/>
                </a:solidFill>
                <a:latin typeface="Cinzel Bold"/>
                <a:ea typeface="Cinzel Bold"/>
                <a:cs typeface="Cinzel Bold"/>
                <a:sym typeface="Cinzel Bold"/>
              </a:rPr>
              <a:t>REAL-TIME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1456" y="3323456"/>
            <a:ext cx="4776661" cy="2527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>
                <a:solidFill>
                  <a:srgbClr val="C8112E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Emergency alerts designed for mines without cellular coverage.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6085594"/>
            <a:ext cx="4342981" cy="2779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1801">
                <a:solidFill>
                  <a:srgbClr val="004AAD"/>
                </a:solidFill>
                <a:latin typeface="Nunito Sans"/>
                <a:ea typeface="Nunito Sans"/>
                <a:cs typeface="Nunito Sans"/>
                <a:sym typeface="Nunito Sans"/>
              </a:rPr>
              <a:t>Helps control-room staff respond to fall alerts, investigate gas-risk conditions and coordinate a more informed search after a landslide. Impact figures will be measured during testing.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19200" y="9328785"/>
            <a:ext cx="13735050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BF3E6"/>
                </a:solidFill>
                <a:latin typeface="Nunito Sans"/>
                <a:ea typeface="Nunito Sans"/>
                <a:cs typeface="Nunito Sans"/>
                <a:sym typeface="Nunito Sans"/>
              </a:rPr>
              <a:t>TECHNOVA 2026 · Team Name TBD · GSA MAKAUT × WebCraftzs Technologies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087600" y="9328785"/>
            <a:ext cx="1981200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BF3E6"/>
                </a:solidFill>
                <a:latin typeface="Nunito Sans"/>
                <a:ea typeface="Nunito Sans"/>
                <a:cs typeface="Nunito Sans"/>
                <a:sym typeface="Nunito San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0500"/>
            <a:chOff x="0" y="0"/>
            <a:chExt cx="24384000" cy="25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54000"/>
            </a:xfrm>
            <a:custGeom>
              <a:avLst/>
              <a:gdLst/>
              <a:ahLst/>
              <a:cxnLst/>
              <a:rect l="l" t="t" r="r" b="b"/>
              <a:pathLst>
                <a:path w="24384000" h="254000">
                  <a:moveTo>
                    <a:pt x="0" y="0"/>
                  </a:moveTo>
                  <a:lnTo>
                    <a:pt x="24384000" y="0"/>
                  </a:lnTo>
                  <a:lnTo>
                    <a:pt x="24384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C8102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190500"/>
            <a:ext cx="18288000" cy="57150"/>
            <a:chOff x="0" y="0"/>
            <a:chExt cx="24384000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76200"/>
            </a:xfrm>
            <a:custGeom>
              <a:avLst/>
              <a:gdLst/>
              <a:ahLst/>
              <a:cxnLst/>
              <a:rect l="l" t="t" r="r" b="b"/>
              <a:pathLst>
                <a:path w="24384000" h="762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3B23C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9982200"/>
            <a:ext cx="18288000" cy="57150"/>
            <a:chOff x="0" y="0"/>
            <a:chExt cx="24384000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76200"/>
            </a:xfrm>
            <a:custGeom>
              <a:avLst/>
              <a:gdLst/>
              <a:ahLst/>
              <a:cxnLst/>
              <a:rect l="l" t="t" r="r" b="b"/>
              <a:pathLst>
                <a:path w="24384000" h="762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3B23C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10039350"/>
            <a:ext cx="18288000" cy="247650"/>
            <a:chOff x="0" y="0"/>
            <a:chExt cx="24384000" cy="330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330200"/>
            </a:xfrm>
            <a:custGeom>
              <a:avLst/>
              <a:gdLst/>
              <a:ahLst/>
              <a:cxnLst/>
              <a:rect l="l" t="t" r="r" b="b"/>
              <a:pathLst>
                <a:path w="24384000" h="330200">
                  <a:moveTo>
                    <a:pt x="0" y="0"/>
                  </a:moveTo>
                  <a:lnTo>
                    <a:pt x="24384000" y="0"/>
                  </a:lnTo>
                  <a:lnTo>
                    <a:pt x="243840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C8102E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219200" y="3040380"/>
            <a:ext cx="5270421" cy="3871272"/>
            <a:chOff x="0" y="0"/>
            <a:chExt cx="6773228" cy="497512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773291" cy="4975125"/>
            </a:xfrm>
            <a:custGeom>
              <a:avLst/>
              <a:gdLst/>
              <a:ahLst/>
              <a:cxnLst/>
              <a:rect l="l" t="t" r="r" b="b"/>
              <a:pathLst>
                <a:path w="6773291" h="4975125">
                  <a:moveTo>
                    <a:pt x="0" y="296522"/>
                  </a:moveTo>
                  <a:cubicBezTo>
                    <a:pt x="0" y="132753"/>
                    <a:pt x="108712" y="0"/>
                    <a:pt x="242824" y="0"/>
                  </a:cubicBezTo>
                  <a:lnTo>
                    <a:pt x="6530467" y="0"/>
                  </a:lnTo>
                  <a:cubicBezTo>
                    <a:pt x="6664579" y="0"/>
                    <a:pt x="6773291" y="132753"/>
                    <a:pt x="6773291" y="296522"/>
                  </a:cubicBezTo>
                  <a:lnTo>
                    <a:pt x="6773291" y="4678603"/>
                  </a:lnTo>
                  <a:cubicBezTo>
                    <a:pt x="6773291" y="4842372"/>
                    <a:pt x="6664579" y="4975125"/>
                    <a:pt x="6530467" y="4975125"/>
                  </a:cubicBezTo>
                  <a:lnTo>
                    <a:pt x="242824" y="4975125"/>
                  </a:lnTo>
                  <a:cubicBezTo>
                    <a:pt x="108712" y="4975125"/>
                    <a:pt x="0" y="4842372"/>
                    <a:pt x="0" y="4678603"/>
                  </a:cubicBezTo>
                  <a:close/>
                </a:path>
              </a:pathLst>
            </a:custGeom>
            <a:solidFill>
              <a:srgbClr val="FFFBF3"/>
            </a:solidFill>
            <a:ln w="19050" cap="sq">
              <a:solidFill>
                <a:srgbClr val="E3B23C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603921" y="3040380"/>
            <a:ext cx="5272158" cy="3871272"/>
            <a:chOff x="0" y="0"/>
            <a:chExt cx="6773380" cy="497359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773418" cy="4973598"/>
            </a:xfrm>
            <a:custGeom>
              <a:avLst/>
              <a:gdLst/>
              <a:ahLst/>
              <a:cxnLst/>
              <a:rect l="l" t="t" r="r" b="b"/>
              <a:pathLst>
                <a:path w="6773418" h="4973598">
                  <a:moveTo>
                    <a:pt x="0" y="296431"/>
                  </a:moveTo>
                  <a:cubicBezTo>
                    <a:pt x="0" y="132712"/>
                    <a:pt x="108712" y="0"/>
                    <a:pt x="242824" y="0"/>
                  </a:cubicBezTo>
                  <a:lnTo>
                    <a:pt x="6530594" y="0"/>
                  </a:lnTo>
                  <a:cubicBezTo>
                    <a:pt x="6664706" y="0"/>
                    <a:pt x="6773418" y="132712"/>
                    <a:pt x="6773418" y="296431"/>
                  </a:cubicBezTo>
                  <a:lnTo>
                    <a:pt x="6773418" y="4677166"/>
                  </a:lnTo>
                  <a:cubicBezTo>
                    <a:pt x="6773418" y="4840886"/>
                    <a:pt x="6664706" y="4973598"/>
                    <a:pt x="6530594" y="4973598"/>
                  </a:cubicBezTo>
                  <a:lnTo>
                    <a:pt x="242824" y="4973598"/>
                  </a:lnTo>
                  <a:cubicBezTo>
                    <a:pt x="108712" y="4973598"/>
                    <a:pt x="0" y="4840886"/>
                    <a:pt x="0" y="4677166"/>
                  </a:cubicBezTo>
                  <a:close/>
                </a:path>
              </a:pathLst>
            </a:custGeom>
            <a:solidFill>
              <a:srgbClr val="FFFBF3"/>
            </a:solidFill>
            <a:ln w="19050" cap="sq">
              <a:solidFill>
                <a:srgbClr val="E3B23C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1988765" y="3040380"/>
            <a:ext cx="5080035" cy="3871272"/>
            <a:chOff x="0" y="0"/>
            <a:chExt cx="6773380" cy="51616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773418" cy="5161695"/>
            </a:xfrm>
            <a:custGeom>
              <a:avLst/>
              <a:gdLst/>
              <a:ahLst/>
              <a:cxnLst/>
              <a:rect l="l" t="t" r="r" b="b"/>
              <a:pathLst>
                <a:path w="6773418" h="5161695">
                  <a:moveTo>
                    <a:pt x="0" y="307642"/>
                  </a:moveTo>
                  <a:cubicBezTo>
                    <a:pt x="0" y="137731"/>
                    <a:pt x="108712" y="0"/>
                    <a:pt x="242824" y="0"/>
                  </a:cubicBezTo>
                  <a:lnTo>
                    <a:pt x="6530594" y="0"/>
                  </a:lnTo>
                  <a:cubicBezTo>
                    <a:pt x="6664706" y="0"/>
                    <a:pt x="6773418" y="137731"/>
                    <a:pt x="6773418" y="307642"/>
                  </a:cubicBezTo>
                  <a:lnTo>
                    <a:pt x="6773418" y="4854053"/>
                  </a:lnTo>
                  <a:cubicBezTo>
                    <a:pt x="6773418" y="5023964"/>
                    <a:pt x="6664706" y="5161695"/>
                    <a:pt x="6530594" y="5161695"/>
                  </a:cubicBezTo>
                  <a:lnTo>
                    <a:pt x="242824" y="5161695"/>
                  </a:lnTo>
                  <a:cubicBezTo>
                    <a:pt x="108712" y="5161695"/>
                    <a:pt x="0" y="5023964"/>
                    <a:pt x="0" y="4854053"/>
                  </a:cubicBezTo>
                  <a:close/>
                </a:path>
              </a:pathLst>
            </a:custGeom>
            <a:solidFill>
              <a:srgbClr val="FFFBF3"/>
            </a:solidFill>
            <a:ln w="19050" cap="sq">
              <a:solidFill>
                <a:srgbClr val="E3B23C"/>
              </a:solidFill>
              <a:prstDash val="solid"/>
              <a:miter/>
            </a:ln>
          </p:spPr>
        </p:sp>
      </p:grpSp>
      <p:sp>
        <p:nvSpPr>
          <p:cNvPr id="16" name="Freeform 16"/>
          <p:cNvSpPr/>
          <p:nvPr/>
        </p:nvSpPr>
        <p:spPr>
          <a:xfrm>
            <a:off x="-336238" y="247650"/>
            <a:ext cx="19435964" cy="9791700"/>
          </a:xfrm>
          <a:custGeom>
            <a:avLst/>
            <a:gdLst/>
            <a:ahLst/>
            <a:cxnLst/>
            <a:rect l="l" t="t" r="r" b="b"/>
            <a:pathLst>
              <a:path w="19435964" h="9791700">
                <a:moveTo>
                  <a:pt x="0" y="0"/>
                </a:moveTo>
                <a:lnTo>
                  <a:pt x="19435964" y="0"/>
                </a:lnTo>
                <a:lnTo>
                  <a:pt x="19435964" y="9791700"/>
                </a:lnTo>
                <a:lnTo>
                  <a:pt x="0" y="9791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99"/>
            </a:blip>
            <a:stretch>
              <a:fillRect t="-3858" b="-4487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219200" y="1171575"/>
            <a:ext cx="16325088" cy="4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 spc="375">
                <a:solidFill>
                  <a:srgbClr val="C8102E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07 · ROADMAP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19200" y="1746885"/>
            <a:ext cx="16325088" cy="798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5400" b="1">
                <a:solidFill>
                  <a:srgbClr val="3B0A0E"/>
                </a:solidFill>
                <a:latin typeface="Cinzel Bold"/>
                <a:ea typeface="Cinzel Bold"/>
                <a:cs typeface="Cinzel Bold"/>
                <a:sym typeface="Cinzel Bold"/>
              </a:rPr>
              <a:t>Where we go next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15440" y="3350895"/>
            <a:ext cx="4416066" cy="870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1">
                <a:solidFill>
                  <a:srgbClr val="C8102E"/>
                </a:solidFill>
                <a:latin typeface="Cinzel Bold"/>
                <a:ea typeface="Cinzel Bold"/>
                <a:cs typeface="Cinzel Bold"/>
                <a:sym typeface="Cinzel Bold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15440" y="4335780"/>
            <a:ext cx="4416066" cy="449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3B0A0E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During the hackathon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22120" y="4690110"/>
            <a:ext cx="4297956" cy="2139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0867" lvl="1" indent="-150434" algn="l">
              <a:lnSpc>
                <a:spcPts val="4156"/>
              </a:lnSpc>
              <a:buFont typeface="Arial"/>
              <a:buChar char="•"/>
            </a:pPr>
            <a:r>
              <a:rPr lang="en-US" sz="1662">
                <a:solidFill>
                  <a:srgbClr val="5A2A2A"/>
                </a:solidFill>
                <a:latin typeface="Nunito Sans"/>
                <a:ea typeface="Nunito Sans"/>
                <a:cs typeface="Nunito Sans"/>
                <a:sym typeface="Nunito Sans"/>
              </a:rPr>
              <a:t>Integrate helmet sensors, RFM02 alert transmission and dashboard display</a:t>
            </a:r>
          </a:p>
          <a:p>
            <a:pPr marL="300867" lvl="1" indent="-150434" algn="l">
              <a:lnSpc>
                <a:spcPts val="4156"/>
              </a:lnSpc>
            </a:pPr>
            <a:endParaRPr lang="en-US" sz="1662">
              <a:solidFill>
                <a:srgbClr val="5A2A2A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marL="300867" lvl="1" indent="-150434" algn="l">
              <a:lnSpc>
                <a:spcPts val="1994"/>
              </a:lnSpc>
            </a:pPr>
            <a:r>
              <a:rPr lang="en-US" sz="1662">
                <a:solidFill>
                  <a:srgbClr val="E3B23C"/>
                </a:solidFill>
                <a:latin typeface="Nunito Sans"/>
                <a:ea typeface="Nunito Sans"/>
                <a:cs typeface="Nunito Sans"/>
                <a:sym typeface="Nunito Sans"/>
              </a:rPr>
              <a:t>Test fall/impact alerts and message delivery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000161" y="3350895"/>
            <a:ext cx="4416190" cy="870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1">
                <a:solidFill>
                  <a:srgbClr val="C8102E"/>
                </a:solidFill>
                <a:latin typeface="Cinzel Bold"/>
                <a:ea typeface="Cinzel Bold"/>
                <a:cs typeface="Cinzel Bold"/>
                <a:sym typeface="Cinzel Bold"/>
              </a:rPr>
              <a:t>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059216" y="4221480"/>
            <a:ext cx="441619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3B0A0E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Next 3 months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059216" y="4419044"/>
            <a:ext cx="4298080" cy="2014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0" lvl="1" indent="-141385" algn="l">
              <a:lnSpc>
                <a:spcPts val="3906"/>
              </a:lnSpc>
              <a:buFont typeface="Arial"/>
              <a:buChar char="•"/>
            </a:pPr>
            <a:r>
              <a:rPr lang="en-US" sz="1562">
                <a:solidFill>
                  <a:srgbClr val="5A2A2A"/>
                </a:solidFill>
                <a:latin typeface="Nunito Sans"/>
                <a:ea typeface="Nunito Sans"/>
                <a:cs typeface="Nunito Sans"/>
                <a:sym typeface="Nunito Sans"/>
              </a:rPr>
              <a:t>Run controlled tests for gas-risk and environmental readings</a:t>
            </a:r>
          </a:p>
          <a:p>
            <a:pPr marL="282770" lvl="1" indent="-141385" algn="l">
              <a:lnSpc>
                <a:spcPts val="3906"/>
              </a:lnSpc>
            </a:pPr>
            <a:endParaRPr lang="en-US" sz="1562">
              <a:solidFill>
                <a:srgbClr val="5A2A2A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marL="282770" lvl="1" indent="-141385" algn="l">
              <a:lnSpc>
                <a:spcPts val="1874"/>
              </a:lnSpc>
            </a:pPr>
            <a:r>
              <a:rPr lang="en-US" sz="1562">
                <a:solidFill>
                  <a:srgbClr val="E3B23C"/>
                </a:solidFill>
                <a:latin typeface="Nunito Sans"/>
                <a:ea typeface="Nunito Sans"/>
                <a:cs typeface="Nunito Sans"/>
                <a:sym typeface="Nunito Sans"/>
              </a:rPr>
              <a:t>Test robot movement, radar search and alert reliability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385005" y="3350895"/>
            <a:ext cx="4416190" cy="870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1">
                <a:solidFill>
                  <a:srgbClr val="C8102E"/>
                </a:solidFill>
                <a:latin typeface="Cinzel Bold"/>
                <a:ea typeface="Cinzel Bold"/>
                <a:cs typeface="Cinzel Bold"/>
                <a:sym typeface="Cinzel Bold"/>
              </a:rPr>
              <a:t>03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85005" y="4335780"/>
            <a:ext cx="4416190" cy="449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3B0A0E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Next 12 months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491685" y="4699635"/>
            <a:ext cx="4298080" cy="2014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0" lvl="1" indent="-141385" algn="l">
              <a:lnSpc>
                <a:spcPts val="3906"/>
              </a:lnSpc>
              <a:buFont typeface="Arial"/>
              <a:buChar char="•"/>
            </a:pPr>
            <a:r>
              <a:rPr lang="en-US" sz="1562">
                <a:solidFill>
                  <a:srgbClr val="5A2A2A"/>
                </a:solidFill>
                <a:latin typeface="Nunito Sans"/>
                <a:ea typeface="Nunito Sans"/>
                <a:cs typeface="Nunito Sans"/>
                <a:sym typeface="Nunito Sans"/>
              </a:rPr>
              <a:t>Improve mesh coverage and multi-node communication</a:t>
            </a:r>
          </a:p>
          <a:p>
            <a:pPr marL="282770" lvl="1" indent="-141385" algn="l">
              <a:lnSpc>
                <a:spcPts val="3906"/>
              </a:lnSpc>
            </a:pPr>
            <a:endParaRPr lang="en-US" sz="1562">
              <a:solidFill>
                <a:srgbClr val="5A2A2A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marL="282770" lvl="1" indent="-141385" algn="l">
              <a:lnSpc>
                <a:spcPts val="1874"/>
              </a:lnSpc>
            </a:pPr>
            <a:r>
              <a:rPr lang="en-US" sz="1562">
                <a:solidFill>
                  <a:srgbClr val="E3B23C"/>
                </a:solidFill>
                <a:latin typeface="Nunito Sans"/>
                <a:ea typeface="Nunito Sans"/>
                <a:cs typeface="Nunito Sans"/>
                <a:sym typeface="Nunito Sans"/>
              </a:rPr>
              <a:t>Validate sensors and rescue workflow in realistic mine-like conditions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19200" y="9328785"/>
            <a:ext cx="13735050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A5A4A"/>
                </a:solidFill>
                <a:latin typeface="Nunito Sans"/>
                <a:ea typeface="Nunito Sans"/>
                <a:cs typeface="Nunito Sans"/>
                <a:sym typeface="Nunito Sans"/>
              </a:rPr>
              <a:t>TECHNOVA 2026 · Team Name TBD · GSA MAKAUT × WebCraftzs Technologies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087600" y="9328785"/>
            <a:ext cx="1981200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8A5A4A"/>
                </a:solidFill>
                <a:latin typeface="Nunito Sans"/>
                <a:ea typeface="Nunito Sans"/>
                <a:cs typeface="Nunito Sans"/>
                <a:sym typeface="Nunito San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0500"/>
            <a:chOff x="0" y="0"/>
            <a:chExt cx="24384000" cy="25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54000"/>
            </a:xfrm>
            <a:custGeom>
              <a:avLst/>
              <a:gdLst/>
              <a:ahLst/>
              <a:cxnLst/>
              <a:rect l="l" t="t" r="r" b="b"/>
              <a:pathLst>
                <a:path w="24384000" h="254000">
                  <a:moveTo>
                    <a:pt x="0" y="0"/>
                  </a:moveTo>
                  <a:lnTo>
                    <a:pt x="24384000" y="0"/>
                  </a:lnTo>
                  <a:lnTo>
                    <a:pt x="24384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C8102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190500"/>
            <a:ext cx="18288000" cy="57150"/>
            <a:chOff x="0" y="0"/>
            <a:chExt cx="24384000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76200"/>
            </a:xfrm>
            <a:custGeom>
              <a:avLst/>
              <a:gdLst/>
              <a:ahLst/>
              <a:cxnLst/>
              <a:rect l="l" t="t" r="r" b="b"/>
              <a:pathLst>
                <a:path w="24384000" h="762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3B23C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9982200"/>
            <a:ext cx="18288000" cy="57150"/>
            <a:chOff x="0" y="0"/>
            <a:chExt cx="24384000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76200"/>
            </a:xfrm>
            <a:custGeom>
              <a:avLst/>
              <a:gdLst/>
              <a:ahLst/>
              <a:cxnLst/>
              <a:rect l="l" t="t" r="r" b="b"/>
              <a:pathLst>
                <a:path w="24384000" h="762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3B23C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10039350"/>
            <a:ext cx="18288000" cy="247650"/>
            <a:chOff x="0" y="0"/>
            <a:chExt cx="24384000" cy="330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330200"/>
            </a:xfrm>
            <a:custGeom>
              <a:avLst/>
              <a:gdLst/>
              <a:ahLst/>
              <a:cxnLst/>
              <a:rect l="l" t="t" r="r" b="b"/>
              <a:pathLst>
                <a:path w="24384000" h="330200">
                  <a:moveTo>
                    <a:pt x="0" y="0"/>
                  </a:moveTo>
                  <a:lnTo>
                    <a:pt x="24384000" y="0"/>
                  </a:lnTo>
                  <a:lnTo>
                    <a:pt x="243840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C8102E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219200" y="1171575"/>
            <a:ext cx="16325088" cy="4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 spc="375">
                <a:solidFill>
                  <a:srgbClr val="E3B23C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08 · THE TEAM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0" y="1746885"/>
            <a:ext cx="7256502" cy="786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5400" b="1">
                <a:solidFill>
                  <a:srgbClr val="FBF3E6"/>
                </a:solidFill>
                <a:latin typeface="Cinzel Bold"/>
                <a:ea typeface="Cinzel Bold"/>
                <a:cs typeface="Cinzel Bold"/>
                <a:sym typeface="Cinzel Bold"/>
              </a:rPr>
              <a:t>SURAKSHA KAVACH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219200" y="3040380"/>
            <a:ext cx="3790950" cy="2827020"/>
            <a:chOff x="0" y="0"/>
            <a:chExt cx="5054600" cy="37693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54600" cy="3769360"/>
            </a:xfrm>
            <a:custGeom>
              <a:avLst/>
              <a:gdLst/>
              <a:ahLst/>
              <a:cxnLst/>
              <a:rect l="l" t="t" r="r" b="b"/>
              <a:pathLst>
                <a:path w="5054600" h="3769360">
                  <a:moveTo>
                    <a:pt x="0" y="242951"/>
                  </a:moveTo>
                  <a:cubicBezTo>
                    <a:pt x="0" y="108712"/>
                    <a:pt x="108712" y="0"/>
                    <a:pt x="242951" y="0"/>
                  </a:cubicBezTo>
                  <a:lnTo>
                    <a:pt x="4811649" y="0"/>
                  </a:lnTo>
                  <a:cubicBezTo>
                    <a:pt x="4945888" y="0"/>
                    <a:pt x="5054600" y="108712"/>
                    <a:pt x="5054600" y="242951"/>
                  </a:cubicBezTo>
                  <a:lnTo>
                    <a:pt x="5054600" y="3526409"/>
                  </a:lnTo>
                  <a:cubicBezTo>
                    <a:pt x="5054600" y="3660521"/>
                    <a:pt x="4945888" y="3769360"/>
                    <a:pt x="4811649" y="3769360"/>
                  </a:cubicBezTo>
                  <a:lnTo>
                    <a:pt x="242951" y="3769360"/>
                  </a:lnTo>
                  <a:cubicBezTo>
                    <a:pt x="108712" y="3769360"/>
                    <a:pt x="0" y="3660648"/>
                    <a:pt x="0" y="3526409"/>
                  </a:cubicBezTo>
                  <a:close/>
                </a:path>
              </a:pathLst>
            </a:custGeom>
            <a:solidFill>
              <a:srgbClr val="521018"/>
            </a:solidFill>
            <a:ln w="19050" cap="sq">
              <a:solidFill>
                <a:srgbClr val="E3B23C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577340" y="3398520"/>
            <a:ext cx="609600" cy="609600"/>
            <a:chOff x="0" y="0"/>
            <a:chExt cx="812800" cy="812800"/>
          </a:xfrm>
        </p:grpSpPr>
        <p:sp>
          <p:nvSpPr>
            <p:cNvPr id="15" name="Freeform 15" descr="Users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1577340" y="4122420"/>
            <a:ext cx="316691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BF3E6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Anindita Porel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77340" y="4600575"/>
            <a:ext cx="316691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E3B23C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Hardware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77340" y="5114925"/>
            <a:ext cx="3166910" cy="34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F3DDC0"/>
                </a:solidFill>
                <a:latin typeface="Nunito Sans"/>
                <a:ea typeface="Nunito Sans"/>
                <a:cs typeface="Nunito Sans"/>
                <a:sym typeface="Nunito Sans"/>
              </a:rPr>
              <a:t>MAKAUT,WB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238750" y="3040380"/>
            <a:ext cx="3790950" cy="2827020"/>
            <a:chOff x="0" y="0"/>
            <a:chExt cx="5054600" cy="376936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054600" cy="3769360"/>
            </a:xfrm>
            <a:custGeom>
              <a:avLst/>
              <a:gdLst/>
              <a:ahLst/>
              <a:cxnLst/>
              <a:rect l="l" t="t" r="r" b="b"/>
              <a:pathLst>
                <a:path w="5054600" h="3769360">
                  <a:moveTo>
                    <a:pt x="0" y="242951"/>
                  </a:moveTo>
                  <a:cubicBezTo>
                    <a:pt x="0" y="108712"/>
                    <a:pt x="108712" y="0"/>
                    <a:pt x="242951" y="0"/>
                  </a:cubicBezTo>
                  <a:lnTo>
                    <a:pt x="4811649" y="0"/>
                  </a:lnTo>
                  <a:cubicBezTo>
                    <a:pt x="4945888" y="0"/>
                    <a:pt x="5054600" y="108712"/>
                    <a:pt x="5054600" y="242951"/>
                  </a:cubicBezTo>
                  <a:lnTo>
                    <a:pt x="5054600" y="3526409"/>
                  </a:lnTo>
                  <a:cubicBezTo>
                    <a:pt x="5054600" y="3660521"/>
                    <a:pt x="4945888" y="3769360"/>
                    <a:pt x="4811649" y="3769360"/>
                  </a:cubicBezTo>
                  <a:lnTo>
                    <a:pt x="242951" y="3769360"/>
                  </a:lnTo>
                  <a:cubicBezTo>
                    <a:pt x="108712" y="3769360"/>
                    <a:pt x="0" y="3660648"/>
                    <a:pt x="0" y="3526409"/>
                  </a:cubicBezTo>
                  <a:close/>
                </a:path>
              </a:pathLst>
            </a:custGeom>
            <a:solidFill>
              <a:srgbClr val="521018"/>
            </a:solidFill>
            <a:ln w="19050" cap="sq">
              <a:solidFill>
                <a:srgbClr val="E3B23C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5596890" y="3398520"/>
            <a:ext cx="609600" cy="609600"/>
            <a:chOff x="0" y="0"/>
            <a:chExt cx="812800" cy="812800"/>
          </a:xfrm>
        </p:grpSpPr>
        <p:sp>
          <p:nvSpPr>
            <p:cNvPr id="22" name="Freeform 22" descr="Users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5596890" y="4122420"/>
            <a:ext cx="316691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BF3E6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Nilakshi chatterjee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596890" y="4600575"/>
            <a:ext cx="316691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 dirty="0">
                <a:solidFill>
                  <a:srgbClr val="E3B23C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 Code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596890" y="5114925"/>
            <a:ext cx="3166910" cy="34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F3DDC0"/>
                </a:solidFill>
                <a:latin typeface="Nunito Sans"/>
                <a:ea typeface="Nunito Sans"/>
                <a:cs typeface="Nunito Sans"/>
                <a:sym typeface="Nunito Sans"/>
              </a:rPr>
              <a:t>GNIT,WB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258300" y="3040380"/>
            <a:ext cx="3790950" cy="2827020"/>
            <a:chOff x="0" y="0"/>
            <a:chExt cx="5054600" cy="376936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054600" cy="3769360"/>
            </a:xfrm>
            <a:custGeom>
              <a:avLst/>
              <a:gdLst/>
              <a:ahLst/>
              <a:cxnLst/>
              <a:rect l="l" t="t" r="r" b="b"/>
              <a:pathLst>
                <a:path w="5054600" h="3769360">
                  <a:moveTo>
                    <a:pt x="0" y="242951"/>
                  </a:moveTo>
                  <a:cubicBezTo>
                    <a:pt x="0" y="108712"/>
                    <a:pt x="108712" y="0"/>
                    <a:pt x="242951" y="0"/>
                  </a:cubicBezTo>
                  <a:lnTo>
                    <a:pt x="4811649" y="0"/>
                  </a:lnTo>
                  <a:cubicBezTo>
                    <a:pt x="4945888" y="0"/>
                    <a:pt x="5054600" y="108712"/>
                    <a:pt x="5054600" y="242951"/>
                  </a:cubicBezTo>
                  <a:lnTo>
                    <a:pt x="5054600" y="3526409"/>
                  </a:lnTo>
                  <a:cubicBezTo>
                    <a:pt x="5054600" y="3660521"/>
                    <a:pt x="4945888" y="3769360"/>
                    <a:pt x="4811649" y="3769360"/>
                  </a:cubicBezTo>
                  <a:lnTo>
                    <a:pt x="242951" y="3769360"/>
                  </a:lnTo>
                  <a:cubicBezTo>
                    <a:pt x="108712" y="3769360"/>
                    <a:pt x="0" y="3660648"/>
                    <a:pt x="0" y="3526409"/>
                  </a:cubicBezTo>
                  <a:close/>
                </a:path>
              </a:pathLst>
            </a:custGeom>
            <a:solidFill>
              <a:srgbClr val="521018"/>
            </a:solidFill>
            <a:ln w="19050" cap="sq">
              <a:solidFill>
                <a:srgbClr val="E3B23C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9616440" y="3398520"/>
            <a:ext cx="609600" cy="609600"/>
            <a:chOff x="0" y="0"/>
            <a:chExt cx="812800" cy="812800"/>
          </a:xfrm>
        </p:grpSpPr>
        <p:sp>
          <p:nvSpPr>
            <p:cNvPr id="29" name="Freeform 29" descr="Users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30" name="TextBox 30"/>
          <p:cNvSpPr txBox="1"/>
          <p:nvPr/>
        </p:nvSpPr>
        <p:spPr>
          <a:xfrm>
            <a:off x="9616440" y="4122420"/>
            <a:ext cx="316691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BF3E6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Dibyani Dey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616440" y="4600575"/>
            <a:ext cx="316691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E3B23C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 Sensors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616440" y="5114925"/>
            <a:ext cx="3166910" cy="34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F3DDC0"/>
                </a:solidFill>
                <a:latin typeface="Nunito Sans"/>
                <a:ea typeface="Nunito Sans"/>
                <a:cs typeface="Nunito Sans"/>
                <a:sym typeface="Nunito Sans"/>
              </a:rPr>
              <a:t>GNIT,WB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3277850" y="3040380"/>
            <a:ext cx="3790950" cy="2827020"/>
            <a:chOff x="0" y="0"/>
            <a:chExt cx="5054600" cy="376936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054600" cy="3769360"/>
            </a:xfrm>
            <a:custGeom>
              <a:avLst/>
              <a:gdLst/>
              <a:ahLst/>
              <a:cxnLst/>
              <a:rect l="l" t="t" r="r" b="b"/>
              <a:pathLst>
                <a:path w="5054600" h="3769360">
                  <a:moveTo>
                    <a:pt x="0" y="242951"/>
                  </a:moveTo>
                  <a:cubicBezTo>
                    <a:pt x="0" y="108712"/>
                    <a:pt x="108712" y="0"/>
                    <a:pt x="242951" y="0"/>
                  </a:cubicBezTo>
                  <a:lnTo>
                    <a:pt x="4811649" y="0"/>
                  </a:lnTo>
                  <a:cubicBezTo>
                    <a:pt x="4945888" y="0"/>
                    <a:pt x="5054600" y="108712"/>
                    <a:pt x="5054600" y="242951"/>
                  </a:cubicBezTo>
                  <a:lnTo>
                    <a:pt x="5054600" y="3526409"/>
                  </a:lnTo>
                  <a:cubicBezTo>
                    <a:pt x="5054600" y="3660521"/>
                    <a:pt x="4945888" y="3769360"/>
                    <a:pt x="4811649" y="3769360"/>
                  </a:cubicBezTo>
                  <a:lnTo>
                    <a:pt x="242951" y="3769360"/>
                  </a:lnTo>
                  <a:cubicBezTo>
                    <a:pt x="108712" y="3769360"/>
                    <a:pt x="0" y="3660648"/>
                    <a:pt x="0" y="3526409"/>
                  </a:cubicBezTo>
                  <a:close/>
                </a:path>
              </a:pathLst>
            </a:custGeom>
            <a:solidFill>
              <a:srgbClr val="521018"/>
            </a:solidFill>
            <a:ln w="19050" cap="sq">
              <a:solidFill>
                <a:srgbClr val="E3B23C"/>
              </a:solidFill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13635990" y="3398520"/>
            <a:ext cx="609600" cy="609600"/>
            <a:chOff x="0" y="0"/>
            <a:chExt cx="812800" cy="812800"/>
          </a:xfrm>
        </p:grpSpPr>
        <p:sp>
          <p:nvSpPr>
            <p:cNvPr id="36" name="Freeform 36" descr="Users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37" name="TextBox 37"/>
          <p:cNvSpPr txBox="1"/>
          <p:nvPr/>
        </p:nvSpPr>
        <p:spPr>
          <a:xfrm>
            <a:off x="13635990" y="4122420"/>
            <a:ext cx="316691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BF3E6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Manami Dey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635990" y="4600575"/>
            <a:ext cx="316691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E3B23C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Hardware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635990" y="5114925"/>
            <a:ext cx="3166910" cy="34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F3DDC0"/>
                </a:solidFill>
                <a:latin typeface="Nunito Sans"/>
                <a:ea typeface="Nunito Sans"/>
                <a:cs typeface="Nunito Sans"/>
                <a:sym typeface="Nunito Sans"/>
              </a:rPr>
              <a:t>MAKAUT,WB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19200" y="9328785"/>
            <a:ext cx="13735050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C9A98E"/>
                </a:solidFill>
                <a:latin typeface="Nunito Sans"/>
                <a:ea typeface="Nunito Sans"/>
                <a:cs typeface="Nunito Sans"/>
                <a:sym typeface="Nunito Sans"/>
              </a:rPr>
              <a:t>TECHNOVA 2026 · Team Name TBD · GSA MAKAUT × WebCraftzs Technologies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087600" y="9328785"/>
            <a:ext cx="1981200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C9A98E"/>
                </a:solidFill>
                <a:latin typeface="Nunito Sans"/>
                <a:ea typeface="Nunito Sans"/>
                <a:cs typeface="Nunito Sans"/>
                <a:sym typeface="Nunito San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0500"/>
            <a:chOff x="0" y="0"/>
            <a:chExt cx="24384000" cy="25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54000"/>
            </a:xfrm>
            <a:custGeom>
              <a:avLst/>
              <a:gdLst/>
              <a:ahLst/>
              <a:cxnLst/>
              <a:rect l="l" t="t" r="r" b="b"/>
              <a:pathLst>
                <a:path w="24384000" h="254000">
                  <a:moveTo>
                    <a:pt x="0" y="0"/>
                  </a:moveTo>
                  <a:lnTo>
                    <a:pt x="24384000" y="0"/>
                  </a:lnTo>
                  <a:lnTo>
                    <a:pt x="24384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C8102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190500"/>
            <a:ext cx="18288000" cy="57150"/>
            <a:chOff x="0" y="0"/>
            <a:chExt cx="24384000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76200"/>
            </a:xfrm>
            <a:custGeom>
              <a:avLst/>
              <a:gdLst/>
              <a:ahLst/>
              <a:cxnLst/>
              <a:rect l="l" t="t" r="r" b="b"/>
              <a:pathLst>
                <a:path w="24384000" h="762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3B23C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9982200"/>
            <a:ext cx="18288000" cy="57150"/>
            <a:chOff x="0" y="0"/>
            <a:chExt cx="24384000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76200"/>
            </a:xfrm>
            <a:custGeom>
              <a:avLst/>
              <a:gdLst/>
              <a:ahLst/>
              <a:cxnLst/>
              <a:rect l="l" t="t" r="r" b="b"/>
              <a:pathLst>
                <a:path w="24384000" h="762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3B23C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10039350"/>
            <a:ext cx="18288000" cy="247650"/>
            <a:chOff x="0" y="0"/>
            <a:chExt cx="24384000" cy="330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330200"/>
            </a:xfrm>
            <a:custGeom>
              <a:avLst/>
              <a:gdLst/>
              <a:ahLst/>
              <a:cxnLst/>
              <a:rect l="l" t="t" r="r" b="b"/>
              <a:pathLst>
                <a:path w="24384000" h="330200">
                  <a:moveTo>
                    <a:pt x="0" y="0"/>
                  </a:moveTo>
                  <a:lnTo>
                    <a:pt x="24384000" y="0"/>
                  </a:lnTo>
                  <a:lnTo>
                    <a:pt x="243840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C8102E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1239500" y="2476500"/>
            <a:ext cx="5334000" cy="5334000"/>
            <a:chOff x="0" y="0"/>
            <a:chExt cx="7112000" cy="7112000"/>
          </a:xfrm>
        </p:grpSpPr>
        <p:sp>
          <p:nvSpPr>
            <p:cNvPr id="11" name="Freeform 11" descr="Decorative golden mandala with red petals"/>
            <p:cNvSpPr/>
            <p:nvPr/>
          </p:nvSpPr>
          <p:spPr>
            <a:xfrm>
              <a:off x="0" y="0"/>
              <a:ext cx="7112000" cy="7112000"/>
            </a:xfrm>
            <a:custGeom>
              <a:avLst/>
              <a:gdLst/>
              <a:ahLst/>
              <a:cxnLst/>
              <a:rect l="l" t="t" r="r" b="b"/>
              <a:pathLst>
                <a:path w="7112000" h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7112000"/>
                  </a:lnTo>
                  <a:lnTo>
                    <a:pt x="0" y="711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219200" y="2350770"/>
            <a:ext cx="10203180" cy="449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 spc="450">
                <a:solidFill>
                  <a:srgbClr val="E3B23C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SHUBHO PUJO · QUESTIONS?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9200" y="3124200"/>
            <a:ext cx="10203180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50"/>
              </a:lnSpc>
            </a:pPr>
            <a:r>
              <a:rPr lang="en-US" sz="10500" b="1" spc="299">
                <a:solidFill>
                  <a:srgbClr val="E3B23C"/>
                </a:solidFill>
                <a:latin typeface="Cinzel Bold"/>
                <a:ea typeface="Cinzel Bold"/>
                <a:cs typeface="Cinzel Bold"/>
                <a:sym typeface="Cinzel Bold"/>
              </a:rPr>
              <a:t>Thank You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219200" y="4762500"/>
            <a:ext cx="1524000" cy="57150"/>
            <a:chOff x="0" y="0"/>
            <a:chExt cx="2032000" cy="76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32000" cy="76200"/>
            </a:xfrm>
            <a:custGeom>
              <a:avLst/>
              <a:gdLst/>
              <a:ahLst/>
              <a:cxnLst/>
              <a:rect l="l" t="t" r="r" b="b"/>
              <a:pathLst>
                <a:path w="2032000" h="76200">
                  <a:moveTo>
                    <a:pt x="0" y="0"/>
                  </a:moveTo>
                  <a:lnTo>
                    <a:pt x="2032000" y="0"/>
                  </a:lnTo>
                  <a:lnTo>
                    <a:pt x="2032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8102E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1219200" y="5038725"/>
            <a:ext cx="10203180" cy="53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dirty="0">
                <a:solidFill>
                  <a:srgbClr val="FBF3E6"/>
                </a:solidFill>
                <a:latin typeface="Nunito Sans"/>
                <a:ea typeface="Nunito Sans"/>
                <a:cs typeface="Nunito Sans"/>
                <a:sym typeface="Nunito Sans"/>
              </a:rPr>
              <a:t>GitHub: Add project repository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19200" y="5758825"/>
            <a:ext cx="9873691" cy="1325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>
                <a:solidFill>
                  <a:srgbClr val="FBF3E6"/>
                </a:solidFill>
                <a:latin typeface="Nunito Sans"/>
                <a:ea typeface="Nunito Sans"/>
                <a:cs typeface="Nunito Sans"/>
                <a:sym typeface="Nunito Sans"/>
              </a:rPr>
              <a:t>Live demo: </a:t>
            </a:r>
            <a:r>
              <a:rPr lang="en-US" sz="2550">
                <a:solidFill>
                  <a:srgbClr val="27B9AC"/>
                </a:solidFill>
                <a:latin typeface="Nunito Sans"/>
                <a:ea typeface="Nunito Sans"/>
                <a:cs typeface="Nunito Sans"/>
                <a:sym typeface="Nunito Sans"/>
              </a:rPr>
              <a:t>https://drive.google.com/file/d/1Bjd7bHP86O694pYUqhah5WCz2rY6a6zi/view?usp=sharing</a:t>
            </a:r>
            <a:r>
              <a:rPr lang="en-US" sz="2550">
                <a:solidFill>
                  <a:srgbClr val="FBF3E6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19200" y="7231390"/>
            <a:ext cx="10203180" cy="444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dirty="0">
                <a:solidFill>
                  <a:srgbClr val="FBF3E6"/>
                </a:solidFill>
                <a:latin typeface="Nunito Sans"/>
                <a:ea typeface="Nunito Sans"/>
                <a:cs typeface="Nunito Sans"/>
                <a:sym typeface="Nunito Sans"/>
              </a:rPr>
              <a:t>Contact: </a:t>
            </a:r>
            <a:r>
              <a:rPr lang="en-US" sz="2550" dirty="0">
                <a:solidFill>
                  <a:srgbClr val="92D050"/>
                </a:solidFill>
                <a:latin typeface="Nunito Sans"/>
                <a:ea typeface="Nunito Sans"/>
                <a:cs typeface="Nunito Sans"/>
                <a:sym typeface="Nunito Sans"/>
              </a:rPr>
              <a:t>sumantasarathisarkar@gmail.com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19200" y="7762875"/>
            <a:ext cx="10203180" cy="34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C9A98E"/>
                </a:solidFill>
                <a:latin typeface="Nunito Sans"/>
                <a:ea typeface="Nunito Sans"/>
                <a:cs typeface="Nunito Sans"/>
                <a:sym typeface="Nunito Sans"/>
              </a:rPr>
              <a:t>TECHNOVA 2026 · GSA MAKAUT × WebCraftzs Technologies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924</Words>
  <Application>Microsoft Office PowerPoint</Application>
  <PresentationFormat>Custom</PresentationFormat>
  <Paragraphs>159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Nunito Sans</vt:lpstr>
      <vt:lpstr>Arial</vt:lpstr>
      <vt:lpstr>Calibri</vt:lpstr>
      <vt:lpstr>Cinzel Bold</vt:lpstr>
      <vt:lpstr>Aptos</vt:lpstr>
      <vt:lpstr>Aptos Bold</vt:lpstr>
      <vt:lpstr>Nunito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TECHNOVA_Mine_Safety_Pitch (1).pptx</dc:title>
  <cp:lastModifiedBy>Sumanta Sarathi Sarkar</cp:lastModifiedBy>
  <cp:revision>3</cp:revision>
  <dcterms:created xsi:type="dcterms:W3CDTF">2006-08-16T00:00:00Z</dcterms:created>
  <dcterms:modified xsi:type="dcterms:W3CDTF">2026-10-11T07:07:47Z</dcterms:modified>
  <dc:identifier>DAHXrKwKur4</dc:identifier>
</cp:coreProperties>
</file>